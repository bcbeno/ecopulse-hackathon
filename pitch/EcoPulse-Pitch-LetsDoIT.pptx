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acca3962-d1ed-d907-4ab6-a6bb62344c05}">
          <p14:sldIdLst>
            <p14:sldId id="256"/>
            <p14:sldId id="257"/>
            <p14:sldId id="258"/>
            <p14:sldId id="259"/>
            <p14:sldId id="260"/>
            <p14:sldId id="261"/>
            <p14:sldId id="262"/>
            <p14:sldId id="263"/>
            <p14:sldId id="264"/>
          </p14:sldIdLst>
        </p14:section>
        <p14:section name="Anexe" id="{a84f8705-c36d-6f8f-e8a8-ed6d5d69b591}">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citi titlul. Lasă slide-ul pe ecran și începe direct cu omul (slide-ul următor).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Începe cu Ana: un om concret, dimineața, pe lângă Podu de Piatră. Spune durerea într-o propoziție, apoi cifra: stația de trafic de la Podu de Piatră a epuizat în 11 luni toate cele 35 de depășiri PM10 permise pe un an (APM Iași, prin BZI, decembrie 2024). Ana e o persona ilustrativă. Dacă reușiți să strângeți până la pitch un citat de la un ieșean real, puneți-l în locul paragrafului «Momentul».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«Există deja asta?» Da: Google Maps și Waze. Amândouă optimizează timpul de deplasare, iar raportările din Waze sunt pentru șoferi. Noi diferim prin faptul că aerul intră în alegerea traseului, pentru cei care merg pe jos sau cu bicicleta. Trei urme independente: APM Iași (2024), Comisia Europeană (2020), Institutul pentru Orașe Vizionare (2025). Linkurile sunt în Anexa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1:00–1:10. O singură propoziție, același om ca pe slide-ul 2. Spune deschis ce e real și ce e estimat. DE VERIFICAT ÎNAINTE DE PITCH: în configurația de demo, ce surse sunt active efectiv (OpenAQ cere cheie, TomTom cere cheie, Valhalla e opțional).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1:10–2:00. Taci și arată. O singură cale: introduci Gara Iași și Copou, alegi Bicicletă, apar cele 3 trasee, alegi «Cel mai curat» și îl exporți în Google Maps. Lasă rezultatul pe ecran câteva secunde. Dacă datele sunt simulate, spune asta într-o propoziție. Ține înregistrarea gata de pornit (Plan B). Captura de pe slide e din aplicația rulată local (localhost:5173).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2:00–2:30. Fluxul în 4 cutii. «Cât e făcut de AI?» Răspuns direct: codul. Ideea, ce surse legăm, cum arată produsul și ce afișăm omului am decis noi. Fiți pregătiți să explicați scorul de expunere: valorile senzorilor sunt interpolate (IDW) de-a lungul traseului; traficul și obstacolele sunt penalizări suplimentare.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2:30–2:40. Utilizatorul nu e clientul. Plătește Primăria, pentru că primește un canal de raportări de la cetățeni și un instrument vizibil de informare despre calitatea aerului, într-un oraș vizat de procedura UE pentru NO₂. Prețul e ipoteză. Nu dați cifre de venit fără calcul.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2:40–2:50. Numele și ce a deținut fiecare (de completat: rolurile Product / Build / Story). De ce noi: suntem afectați direct de problemă și vrem să creștem awareness-ul. Spuneți clar cine duce produsul mai departe.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Ultimul cuvânt e cererea, nu «mulțumim». Propoziția de final: «În Iași, aerul nu se vede. Cu EcoPulse, îl vezi pe drumul tău.» Metrica și cererea sunt propuneri; confirmați-le în echipă înainte de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deschide doar la întrebarea «Ce nu merge?». Răspunsul bun: două limite concrete, numite fără ezitare.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întrebări tehnice: de ce SQLite/PostGIS, de ce OSRM vs Valhalla, cum se calculează scorul. AI-ul a generat codul; deciziile de produs și integrările au fost ale echipei.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Toate cifrele de pe slide-urile 2 și 3 sunt aici, cu sursa. Nu folosiți altele fără sursă.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Cifrele de piață nu sunt încă calculate. Completați doar cu numere care au sursă și an; altfel lăsați metoda și spuneți «nu știm încă, uite cum aflăm».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1A2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4232D"/>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EA4B2"/>
                </a:solidFill>
              </a:rPr>
              <a:t>EcoPulse · Let'sDoIT</a:t>
            </a:r>
            <a:endParaRPr lang="en-US" sz="1000" dirty="0"/>
          </a:p>
        </p:txBody>
      </p:sp>
      <p:sp>
        <p:nvSpPr>
          <p:cNvPr id="3" name="Text 1"/>
          <p:cNvSpPr/>
          <p:nvPr>
            <p:ph idx="101"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rgbClr val="34C38F"/>
                </a:solidFill>
              </a:defRPr>
            </a:lvl1pPr>
          </a:lstStyle>
          <a:p>
            <a:pPr indent="0" marL="0">
              <a:buNone/>
            </a:pPr>
            <a:endParaRPr lang="en-US" sz="1200" dirty="0"/>
          </a:p>
        </p:txBody>
      </p:sp>
      <p:sp>
        <p:nvSpPr>
          <p:cNvPr id="4" name="Text 1"/>
          <p:cNvSpPr/>
          <p:nvPr>
            <p:ph idx="102" type="title" hasCustomPrompt="1"/>
          </p:nvPr>
        </p:nvSpPr>
        <p:spPr>
          <a:xfrm>
            <a:off x="548640" y="676656"/>
            <a:ext cx="11064240" cy="749808"/>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NEX">
    <p:bg>
      <p:bgPr>
        <a:solidFill>
          <a:srgbClr val="14232D"/>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EA4B2"/>
                </a:solidFill>
              </a:rPr>
              <a:t>EcoPulse · Let'sDoIT</a:t>
            </a:r>
            <a:endParaRPr lang="en-US" sz="1000" dirty="0"/>
          </a:p>
        </p:txBody>
      </p:sp>
      <p:sp>
        <p:nvSpPr>
          <p:cNvPr id="3" name="Text 1"/>
          <p:cNvSpPr/>
          <p:nvPr>
            <p:ph idx="101"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rgbClr val="34C38F"/>
                </a:solidFill>
              </a:defRPr>
            </a:lvl1pPr>
          </a:lstStyle>
          <a:p>
            <a:pPr indent="0" marL="0">
              <a:buNone/>
            </a:pPr>
            <a:endParaRPr lang="en-US" sz="1200" dirty="0"/>
          </a:p>
        </p:txBody>
      </p:sp>
      <p:sp>
        <p:nvSpPr>
          <p:cNvPr id="4" name="Text 1"/>
          <p:cNvSpPr/>
          <p:nvPr>
            <p:ph idx="102" type="title" hasCustomPrompt="1"/>
          </p:nvPr>
        </p:nvSpPr>
        <p:spPr>
          <a:xfrm>
            <a:off x="548640" y="676656"/>
            <a:ext cx="11064240" cy="749808"/>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5" name="Text 1"/>
          <p:cNvSpPr/>
          <p:nvPr/>
        </p:nvSpPr>
        <p:spPr>
          <a:xfrm>
            <a:off x="7955280" y="6400800"/>
            <a:ext cx="3685032" cy="274320"/>
          </a:xfrm>
          <a:prstGeom prst="rect">
            <a:avLst/>
          </a:prstGeom>
          <a:noFill/>
          <a:ln/>
        </p:spPr>
        <p:txBody>
          <a:bodyPr wrap="square" lIns="0" tIns="0" rIns="0" bIns="0" rtlCol="0" anchor="ctr"/>
          <a:lstStyle/>
          <a:p>
            <a:pPr algn="r" indent="0" marL="0">
              <a:buNone/>
            </a:pPr>
            <a:r>
              <a:rPr lang="en-US" sz="1000" dirty="0">
                <a:solidFill>
                  <a:srgbClr val="8EA4B2"/>
                </a:solidFill>
              </a:rPr>
              <a:t>Anexă · se deschide doar la întrebări</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17320"/>
            <a:ext cx="5120640" cy="320040"/>
          </a:xfrm>
          <a:prstGeom prst="rect">
            <a:avLst/>
          </a:prstGeom>
          <a:noFill/>
          <a:ln/>
        </p:spPr>
        <p:txBody>
          <a:bodyPr wrap="square" lIns="0" tIns="0" rIns="0" bIns="0" rtlCol="0" anchor="ctr"/>
          <a:lstStyle/>
          <a:p>
            <a:pPr indent="0" marL="0">
              <a:buNone/>
            </a:pPr>
            <a:r>
              <a:rPr lang="en-US" sz="1300" b="1" spc="400" kern="0" dirty="0">
                <a:solidFill>
                  <a:srgbClr val="34C38F"/>
                </a:solidFill>
              </a:rPr>
              <a:t>ECHIPA LET'SDOIT</a:t>
            </a:r>
            <a:endParaRPr lang="en-US" sz="1300" dirty="0"/>
          </a:p>
        </p:txBody>
      </p:sp>
      <p:sp>
        <p:nvSpPr>
          <p:cNvPr id="3" name="Shape 1"/>
          <p:cNvSpPr/>
          <p:nvPr/>
        </p:nvSpPr>
        <p:spPr>
          <a:xfrm>
            <a:off x="640080" y="1874520"/>
            <a:ext cx="868680" cy="868680"/>
          </a:xfrm>
          <a:prstGeom prst="ellipse">
            <a:avLst/>
          </a:prstGeom>
          <a:solidFill>
            <a:srgbClr val="34C38F"/>
          </a:solidFill>
          <a:ln/>
        </p:spPr>
      </p:sp>
      <p:pic>
        <p:nvPicPr>
          <p:cNvPr id="4" name="Image 0" descr="preencoded.png">    </p:cNvPr>
          <p:cNvPicPr>
            <a:picLocks noChangeAspect="1"/>
          </p:cNvPicPr>
          <p:nvPr/>
        </p:nvPicPr>
        <p:blipFill>
          <a:blip r:embed="rId1"/>
          <a:stretch>
            <a:fillRect/>
          </a:stretch>
        </p:blipFill>
        <p:spPr>
          <a:xfrm>
            <a:off x="831190" y="2065630"/>
            <a:ext cx="486461" cy="486461"/>
          </a:xfrm>
          <a:prstGeom prst="rect">
            <a:avLst/>
          </a:prstGeom>
        </p:spPr>
      </p:pic>
      <p:sp>
        <p:nvSpPr>
          <p:cNvPr id="5" name="Text 2"/>
          <p:cNvSpPr txBox="1"/>
          <p:nvPr/>
        </p:nvSpPr>
        <p:spPr>
          <a:xfrm>
            <a:off x="1691640" y="1810512"/>
            <a:ext cx="4206240" cy="1005840"/>
          </a:xfrm>
          <a:prstGeom prst="rect">
            <a:avLst/>
          </a:prstGeom>
          <a:noFill/>
          <a:ln/>
        </p:spPr>
        <p:txBody>
          <a:bodyPr wrap="square" lIns="0" tIns="0" rIns="0" bIns="0" rtlCol="0" anchor="ctr"/>
          <a:lstStyle/>
          <a:p>
            <a:pPr indent="0" marL="0">
              <a:buNone/>
            </a:pPr>
            <a:r>
              <a:rPr lang="en-US" sz="6000" b="1" dirty="0">
                <a:solidFill>
                  <a:srgbClr val="FFFFFF"/>
                </a:solidFill>
              </a:rPr>
              <a:t>EcoPulse</a:t>
            </a:r>
            <a:endParaRPr lang="en-US" sz="6000" dirty="0"/>
          </a:p>
        </p:txBody>
      </p:sp>
      <p:sp>
        <p:nvSpPr>
          <p:cNvPr id="6" name="Text 3"/>
          <p:cNvSpPr txBox="1"/>
          <p:nvPr/>
        </p:nvSpPr>
        <p:spPr>
          <a:xfrm>
            <a:off x="640080" y="3108960"/>
            <a:ext cx="5120640" cy="1371600"/>
          </a:xfrm>
          <a:prstGeom prst="rect">
            <a:avLst/>
          </a:prstGeom>
          <a:noFill/>
          <a:ln/>
        </p:spPr>
        <p:txBody>
          <a:bodyPr wrap="square" lIns="0" tIns="0" rIns="0" bIns="0" rtlCol="0" anchor="t"/>
          <a:lstStyle/>
          <a:p>
            <a:pPr indent="0" marL="0">
              <a:buNone/>
            </a:pPr>
            <a:r>
              <a:rPr lang="en-US" sz="2200" dirty="0">
                <a:solidFill>
                  <a:srgbClr val="D5E1E8"/>
                </a:solidFill>
              </a:rPr>
              <a:t>Ajutăm ieșenii care merg pe jos sau cu bicicleta să aleagă </a:t>
            </a:r>
            <a:pPr indent="0" marL="0">
              <a:buNone/>
            </a:pPr>
            <a:r>
              <a:rPr lang="en-US" sz="2200" b="1" dirty="0">
                <a:solidFill>
                  <a:srgbClr val="34C38F"/>
                </a:solidFill>
              </a:rPr>
              <a:t>drumul cu aerul cel mai curat</a:t>
            </a:r>
            <a:pPr indent="0" marL="0">
              <a:buNone/>
            </a:pPr>
            <a:r>
              <a:rPr lang="en-US" sz="2200" dirty="0">
                <a:solidFill>
                  <a:srgbClr val="D5E1E8"/>
                </a:solidFill>
              </a:rPr>
              <a:t>, fără să ghicească unde e poluat.</a:t>
            </a:r>
            <a:endParaRPr lang="en-US" sz="2200" dirty="0"/>
          </a:p>
        </p:txBody>
      </p:sp>
      <p:sp>
        <p:nvSpPr>
          <p:cNvPr id="7" name="Text 4"/>
          <p:cNvSpPr txBox="1"/>
          <p:nvPr/>
        </p:nvSpPr>
        <p:spPr>
          <a:xfrm>
            <a:off x="640080" y="5257800"/>
            <a:ext cx="5303520" cy="320040"/>
          </a:xfrm>
          <a:prstGeom prst="rect">
            <a:avLst/>
          </a:prstGeom>
          <a:noFill/>
          <a:ln/>
        </p:spPr>
        <p:txBody>
          <a:bodyPr wrap="square" lIns="0" tIns="0" rIns="0" bIns="0" rtlCol="0" anchor="ctr"/>
          <a:lstStyle/>
          <a:p>
            <a:pPr indent="0" marL="0">
              <a:buNone/>
            </a:pPr>
            <a:r>
              <a:rPr lang="en-US" sz="1300" dirty="0">
                <a:solidFill>
                  <a:srgbClr val="8EA4B2"/>
                </a:solidFill>
              </a:rPr>
              <a:t>Benoni Circiu  ·  Mihail Gosman  ·  Robert Nistor  ·  Marian Duma</a:t>
            </a:r>
            <a:endParaRPr lang="en-US" sz="1300" dirty="0"/>
          </a:p>
        </p:txBody>
      </p:sp>
      <p:sp>
        <p:nvSpPr>
          <p:cNvPr id="8" name="Shape 5"/>
          <p:cNvSpPr/>
          <p:nvPr/>
        </p:nvSpPr>
        <p:spPr>
          <a:xfrm>
            <a:off x="6190488" y="1527048"/>
            <a:ext cx="5449824" cy="3315157"/>
          </a:xfrm>
          <a:prstGeom prst="roundRect">
            <a:avLst>
              <a:gd name="adj" fmla="val 2758"/>
            </a:avLst>
          </a:prstGeom>
          <a:solidFill>
            <a:srgbClr val="25404F"/>
          </a:solidFill>
          <a:ln/>
          <a:effectLst>
            <a:outerShdw sx="100000" sy="100000" kx="0" ky="0" algn="bl" rotWithShape="0" blurRad="152400" dist="50800" dir="5400000">
              <a:srgbClr val="000000">
                <a:alpha val="35000"/>
              </a:srgbClr>
            </a:outerShdw>
          </a:effectLst>
        </p:spPr>
      </p:sp>
      <p:pic>
        <p:nvPicPr>
          <p:cNvPr id="9" name="Image 1" descr="Captură din aplicația EcoPulse">    </p:cNvPr>
          <p:cNvPicPr>
            <a:picLocks noChangeAspect="1"/>
          </p:cNvPicPr>
          <p:nvPr/>
        </p:nvPicPr>
        <p:blipFill>
          <a:blip r:embed="rId2"/>
          <a:stretch>
            <a:fillRect/>
          </a:stretch>
        </p:blipFill>
        <p:spPr>
          <a:xfrm>
            <a:off x="6263640" y="1600200"/>
            <a:ext cx="5303520" cy="3168853"/>
          </a:xfrm>
          <a:prstGeom prst="rect">
            <a:avLst/>
          </a:prstGeom>
        </p:spPr>
      </p:pic>
      <p:sp>
        <p:nvSpPr>
          <p:cNvPr id="10" name="Text 6"/>
          <p:cNvSpPr txBox="1"/>
          <p:nvPr/>
        </p:nvSpPr>
        <p:spPr>
          <a:xfrm>
            <a:off x="6263640" y="4937760"/>
            <a:ext cx="5303520" cy="274320"/>
          </a:xfrm>
          <a:prstGeom prst="rect">
            <a:avLst/>
          </a:prstGeom>
          <a:noFill/>
          <a:ln/>
        </p:spPr>
        <p:txBody>
          <a:bodyPr wrap="square" lIns="0" tIns="0" rIns="0" bIns="0" rtlCol="0" anchor="ctr"/>
          <a:lstStyle/>
          <a:p>
            <a:pPr indent="0" marL="0">
              <a:buNone/>
            </a:pPr>
            <a:r>
              <a:rPr lang="en-US" sz="1100" dirty="0">
                <a:solidFill>
                  <a:srgbClr val="8EA4B2"/>
                </a:solidFill>
              </a:rPr>
              <a:t>Harta Iașului în EcoPulse: senzori de aer, trafic, hazard-uri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P — PROBLEMA</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Mergi pe jos prin Iași fără să știi ce respiri</a:t>
            </a:r>
            <a:endParaRPr lang="en-US" sz="3400" dirty="0"/>
          </a:p>
        </p:txBody>
      </p:sp>
      <p:sp>
        <p:nvSpPr>
          <p:cNvPr id="4" name="Text 2"/>
          <p:cNvSpPr txBox="1"/>
          <p:nvPr/>
        </p:nvSpPr>
        <p:spPr>
          <a:xfrm>
            <a:off x="548640" y="1691640"/>
            <a:ext cx="6766560" cy="1828800"/>
          </a:xfrm>
          <a:prstGeom prst="rect">
            <a:avLst/>
          </a:prstGeom>
          <a:noFill/>
          <a:ln/>
        </p:spPr>
        <p:txBody>
          <a:bodyPr wrap="square" lIns="0" tIns="0" rIns="0" bIns="0" rtlCol="0" anchor="t"/>
          <a:lstStyle/>
          <a:p>
            <a:pPr indent="0" marL="0">
              <a:buNone/>
            </a:pPr>
            <a:r>
              <a:rPr lang="en-US" sz="2200" dirty="0">
                <a:solidFill>
                  <a:srgbClr val="FFFFFF"/>
                </a:solidFill>
              </a:rPr>
              <a:t>Ieșeanul care merge pe jos sau cu bicicleta </a:t>
            </a:r>
            <a:pPr indent="0" marL="0">
              <a:buNone/>
            </a:pPr>
            <a:r>
              <a:rPr lang="en-US" sz="2200" b="1" dirty="0">
                <a:solidFill>
                  <a:srgbClr val="EF6B55"/>
                </a:solidFill>
              </a:rPr>
              <a:t>nu poate vedea cât de poluat e drumul</a:t>
            </a:r>
            <a:pPr indent="0" marL="0">
              <a:buNone/>
            </a:pPr>
            <a:r>
              <a:rPr lang="en-US" sz="2200" dirty="0">
                <a:solidFill>
                  <a:srgbClr val="FFFFFF"/>
                </a:solidFill>
              </a:rPr>
              <a:t> pe care îl alege, pentru că datele despre aer stau în stații și buletine, nu pe hartă. Iar costul îl plătește cu </a:t>
            </a:r>
            <a:pPr indent="0" marL="0">
              <a:buNone/>
            </a:pPr>
            <a:r>
              <a:rPr lang="en-US" sz="2200" b="1" dirty="0">
                <a:solidFill>
                  <a:srgbClr val="EF6B55"/>
                </a:solidFill>
              </a:rPr>
              <a:t>propria sănătate.</a:t>
            </a:r>
            <a:endParaRPr lang="en-US" sz="2200" dirty="0"/>
          </a:p>
        </p:txBody>
      </p:sp>
      <p:sp>
        <p:nvSpPr>
          <p:cNvPr id="5" name="Shape 3"/>
          <p:cNvSpPr/>
          <p:nvPr/>
        </p:nvSpPr>
        <p:spPr>
          <a:xfrm>
            <a:off x="548640" y="3611880"/>
            <a:ext cx="6766560" cy="2468880"/>
          </a:xfrm>
          <a:prstGeom prst="roundRect">
            <a:avLst>
              <a:gd name="adj" fmla="val 4444"/>
            </a:avLst>
          </a:prstGeom>
          <a:solidFill>
            <a:srgbClr val="1E3240"/>
          </a:solidFill>
          <a:ln/>
        </p:spPr>
      </p:sp>
      <p:sp>
        <p:nvSpPr>
          <p:cNvPr id="6" name="Shape 4"/>
          <p:cNvSpPr/>
          <p:nvPr/>
        </p:nvSpPr>
        <p:spPr>
          <a:xfrm>
            <a:off x="777240" y="3840480"/>
            <a:ext cx="502920" cy="502920"/>
          </a:xfrm>
          <a:prstGeom prst="ellipse">
            <a:avLst/>
          </a:prstGeom>
          <a:solidFill>
            <a:srgbClr val="25404F"/>
          </a:solidFill>
          <a:ln/>
        </p:spPr>
      </p:sp>
      <p:pic>
        <p:nvPicPr>
          <p:cNvPr id="7" name="Image 0" descr="preencoded.png">    </p:cNvPr>
          <p:cNvPicPr>
            <a:picLocks noChangeAspect="1"/>
          </p:cNvPicPr>
          <p:nvPr/>
        </p:nvPicPr>
        <p:blipFill>
          <a:blip r:embed="rId1"/>
          <a:stretch>
            <a:fillRect/>
          </a:stretch>
        </p:blipFill>
        <p:spPr>
          <a:xfrm>
            <a:off x="887882" y="3951122"/>
            <a:ext cx="281635" cy="281635"/>
          </a:xfrm>
          <a:prstGeom prst="rect">
            <a:avLst/>
          </a:prstGeom>
        </p:spPr>
      </p:pic>
      <p:sp>
        <p:nvSpPr>
          <p:cNvPr id="8" name="Text 5"/>
          <p:cNvSpPr txBox="1"/>
          <p:nvPr/>
        </p:nvSpPr>
        <p:spPr>
          <a:xfrm>
            <a:off x="1417320" y="3959352"/>
            <a:ext cx="27432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MOMENTUL</a:t>
            </a:r>
            <a:endParaRPr lang="en-US" sz="1100" dirty="0"/>
          </a:p>
        </p:txBody>
      </p:sp>
      <p:sp>
        <p:nvSpPr>
          <p:cNvPr id="9" name="Text 6"/>
          <p:cNvSpPr txBox="1"/>
          <p:nvPr/>
        </p:nvSpPr>
        <p:spPr>
          <a:xfrm>
            <a:off x="777240" y="4480560"/>
            <a:ext cx="6309360" cy="1188720"/>
          </a:xfrm>
          <a:prstGeom prst="rect">
            <a:avLst/>
          </a:prstGeom>
          <a:noFill/>
          <a:ln/>
        </p:spPr>
        <p:txBody>
          <a:bodyPr wrap="square" lIns="0" tIns="0" rIns="0" bIns="0" rtlCol="0" anchor="t"/>
          <a:lstStyle/>
          <a:p>
            <a:pPr indent="0" marL="0">
              <a:buNone/>
            </a:pPr>
            <a:r>
              <a:rPr lang="en-US" sz="1600" dirty="0">
                <a:solidFill>
                  <a:srgbClr val="D5E1E8"/>
                </a:solidFill>
              </a:rPr>
              <a:t>7:45, o dimineață de noiembrie cu ceață și aer stătut. Ana își duce copilul la școală pe lângă Podu de Piatră. Bulevardul e drumul cel mai scurt, dar și cel mai aglomerat, iar ea nu are de unde să știe dacă străzile lăturalnice ar fi mai curate.</a:t>
            </a:r>
            <a:endParaRPr lang="en-US" sz="1600" dirty="0"/>
          </a:p>
        </p:txBody>
      </p:sp>
      <p:sp>
        <p:nvSpPr>
          <p:cNvPr id="10" name="Text 7"/>
          <p:cNvSpPr txBox="1"/>
          <p:nvPr/>
        </p:nvSpPr>
        <p:spPr>
          <a:xfrm>
            <a:off x="777240" y="5788152"/>
            <a:ext cx="2743200" cy="228600"/>
          </a:xfrm>
          <a:prstGeom prst="rect">
            <a:avLst/>
          </a:prstGeom>
          <a:noFill/>
          <a:ln/>
        </p:spPr>
        <p:txBody>
          <a:bodyPr wrap="square" lIns="0" tIns="0" rIns="0" bIns="0" rtlCol="0" anchor="ctr"/>
          <a:lstStyle/>
          <a:p>
            <a:pPr indent="0" marL="0">
              <a:buNone/>
            </a:pPr>
            <a:r>
              <a:rPr lang="en-US" sz="1000" i="1" dirty="0">
                <a:solidFill>
                  <a:srgbClr val="8EA4B2"/>
                </a:solidFill>
              </a:rPr>
              <a:t>Persona ilustrativă</a:t>
            </a:r>
            <a:endParaRPr lang="en-US" sz="1000" dirty="0"/>
          </a:p>
        </p:txBody>
      </p:sp>
      <p:sp>
        <p:nvSpPr>
          <p:cNvPr id="11" name="Shape 8"/>
          <p:cNvSpPr/>
          <p:nvPr/>
        </p:nvSpPr>
        <p:spPr>
          <a:xfrm>
            <a:off x="7680960" y="1691640"/>
            <a:ext cx="3959352" cy="4389120"/>
          </a:xfrm>
          <a:prstGeom prst="roundRect">
            <a:avLst>
              <a:gd name="adj" fmla="val 2771"/>
            </a:avLst>
          </a:prstGeom>
          <a:solidFill>
            <a:srgbClr val="1E3240"/>
          </a:solidFill>
          <a:ln/>
        </p:spPr>
      </p:sp>
      <p:sp>
        <p:nvSpPr>
          <p:cNvPr id="12" name="Shape 9"/>
          <p:cNvSpPr/>
          <p:nvPr/>
        </p:nvSpPr>
        <p:spPr>
          <a:xfrm>
            <a:off x="7955280" y="1965960"/>
            <a:ext cx="502920" cy="502920"/>
          </a:xfrm>
          <a:prstGeom prst="ellipse">
            <a:avLst/>
          </a:prstGeom>
          <a:solidFill>
            <a:srgbClr val="25404F"/>
          </a:solidFill>
          <a:ln/>
        </p:spPr>
      </p:sp>
      <p:pic>
        <p:nvPicPr>
          <p:cNvPr id="13" name="Image 1" descr="preencoded.png">    </p:cNvPr>
          <p:cNvPicPr>
            <a:picLocks noChangeAspect="1"/>
          </p:cNvPicPr>
          <p:nvPr/>
        </p:nvPicPr>
        <p:blipFill>
          <a:blip r:embed="rId2"/>
          <a:stretch>
            <a:fillRect/>
          </a:stretch>
        </p:blipFill>
        <p:spPr>
          <a:xfrm>
            <a:off x="8065922" y="2076602"/>
            <a:ext cx="281635" cy="281635"/>
          </a:xfrm>
          <a:prstGeom prst="rect">
            <a:avLst/>
          </a:prstGeom>
        </p:spPr>
      </p:pic>
      <p:sp>
        <p:nvSpPr>
          <p:cNvPr id="14" name="Text 10"/>
          <p:cNvSpPr txBox="1"/>
          <p:nvPr/>
        </p:nvSpPr>
        <p:spPr>
          <a:xfrm>
            <a:off x="8595360" y="2084832"/>
            <a:ext cx="292608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PODU DE PIATRĂ, 2024</a:t>
            </a:r>
            <a:endParaRPr lang="en-US" sz="1100" dirty="0"/>
          </a:p>
        </p:txBody>
      </p:sp>
      <p:sp>
        <p:nvSpPr>
          <p:cNvPr id="15" name="Text 11"/>
          <p:cNvSpPr txBox="1"/>
          <p:nvPr/>
        </p:nvSpPr>
        <p:spPr>
          <a:xfrm>
            <a:off x="7955280" y="2697480"/>
            <a:ext cx="3474720" cy="914400"/>
          </a:xfrm>
          <a:prstGeom prst="rect">
            <a:avLst/>
          </a:prstGeom>
          <a:noFill/>
          <a:ln/>
        </p:spPr>
        <p:txBody>
          <a:bodyPr wrap="square" lIns="0" tIns="0" rIns="0" bIns="0" rtlCol="0" anchor="ctr"/>
          <a:lstStyle/>
          <a:p>
            <a:pPr indent="0" marL="0">
              <a:buNone/>
            </a:pPr>
            <a:r>
              <a:rPr lang="en-US" sz="5400" b="1" dirty="0">
                <a:solidFill>
                  <a:srgbClr val="EF6B55"/>
                </a:solidFill>
              </a:rPr>
              <a:t>35 din 35</a:t>
            </a:r>
            <a:endParaRPr lang="en-US" sz="5400" dirty="0"/>
          </a:p>
        </p:txBody>
      </p:sp>
      <p:sp>
        <p:nvSpPr>
          <p:cNvPr id="16" name="Text 12"/>
          <p:cNvSpPr txBox="1"/>
          <p:nvPr/>
        </p:nvSpPr>
        <p:spPr>
          <a:xfrm>
            <a:off x="7955280" y="3703320"/>
            <a:ext cx="3474720" cy="1371600"/>
          </a:xfrm>
          <a:prstGeom prst="rect">
            <a:avLst/>
          </a:prstGeom>
          <a:noFill/>
          <a:ln/>
        </p:spPr>
        <p:txBody>
          <a:bodyPr wrap="square" lIns="0" tIns="0" rIns="0" bIns="0" rtlCol="0" anchor="t"/>
          <a:lstStyle/>
          <a:p>
            <a:pPr indent="0" marL="0">
              <a:buNone/>
            </a:pPr>
            <a:r>
              <a:rPr lang="en-US" sz="1600" dirty="0">
                <a:solidFill>
                  <a:srgbClr val="FFFFFF"/>
                </a:solidFill>
              </a:rPr>
              <a:t>depășiri ale limitei zilnice de PM10 permise pe un an întreg, atinse de stația de trafic în doar 11 luni.</a:t>
            </a:r>
            <a:endParaRPr lang="en-US" sz="1600" dirty="0"/>
          </a:p>
        </p:txBody>
      </p:sp>
      <p:sp>
        <p:nvSpPr>
          <p:cNvPr id="17" name="Text 13"/>
          <p:cNvSpPr txBox="1"/>
          <p:nvPr/>
        </p:nvSpPr>
        <p:spPr>
          <a:xfrm>
            <a:off x="7955280" y="5532120"/>
            <a:ext cx="3474720" cy="411480"/>
          </a:xfrm>
          <a:prstGeom prst="rect">
            <a:avLst/>
          </a:prstGeom>
          <a:noFill/>
          <a:ln/>
        </p:spPr>
        <p:txBody>
          <a:bodyPr wrap="square" lIns="0" tIns="0" rIns="0" bIns="0" rtlCol="0" anchor="t"/>
          <a:lstStyle/>
          <a:p>
            <a:pPr indent="0" marL="0">
              <a:buNone/>
            </a:pPr>
            <a:r>
              <a:rPr lang="en-US" sz="1100" dirty="0">
                <a:solidFill>
                  <a:srgbClr val="8EA4B2"/>
                </a:solidFill>
              </a:rPr>
              <a:t>Sursă: APM Iași, citată de BZI.ro, 19 dec. 2024</a:t>
            </a:r>
            <a:endParaRPr lang="en-US" sz="1100" dirty="0"/>
          </a:p>
        </p:txBody>
      </p:sp>
      <p:sp>
        <p:nvSpPr>
          <p:cNvPr id="18" name="Text 1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2 / 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R — DOVEZI ȘI ALTERNATIVE</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Aplicațiile de azi optimizează timpul, nu aerul</a:t>
            </a:r>
            <a:endParaRPr lang="en-US" sz="3400" dirty="0"/>
          </a:p>
        </p:txBody>
      </p:sp>
      <p:sp>
        <p:nvSpPr>
          <p:cNvPr id="4" name="Text 2"/>
          <p:cNvSpPr txBox="1"/>
          <p:nvPr/>
        </p:nvSpPr>
        <p:spPr>
          <a:xfrm>
            <a:off x="548640" y="1691640"/>
            <a:ext cx="45720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CE FAC AZI IEȘENII</a:t>
            </a:r>
            <a:endParaRPr lang="en-US" sz="1100" dirty="0"/>
          </a:p>
        </p:txBody>
      </p:sp>
      <p:sp>
        <p:nvSpPr>
          <p:cNvPr id="5" name="Shape 3"/>
          <p:cNvSpPr/>
          <p:nvPr/>
        </p:nvSpPr>
        <p:spPr>
          <a:xfrm>
            <a:off x="548640" y="2057400"/>
            <a:ext cx="6035040" cy="1207008"/>
          </a:xfrm>
          <a:prstGeom prst="roundRect">
            <a:avLst>
              <a:gd name="adj" fmla="val 9091"/>
            </a:avLst>
          </a:prstGeom>
          <a:solidFill>
            <a:srgbClr val="1E3240"/>
          </a:solidFill>
          <a:ln/>
        </p:spPr>
      </p:sp>
      <p:sp>
        <p:nvSpPr>
          <p:cNvPr id="6" name="Shape 4"/>
          <p:cNvSpPr/>
          <p:nvPr/>
        </p:nvSpPr>
        <p:spPr>
          <a:xfrm>
            <a:off x="777240" y="2386584"/>
            <a:ext cx="548640" cy="548640"/>
          </a:xfrm>
          <a:prstGeom prst="ellipse">
            <a:avLst/>
          </a:prstGeom>
          <a:solidFill>
            <a:srgbClr val="25404F"/>
          </a:solidFill>
          <a:ln/>
        </p:spPr>
      </p:sp>
      <p:pic>
        <p:nvPicPr>
          <p:cNvPr id="7" name="Image 0" descr="preencoded.png">    </p:cNvPr>
          <p:cNvPicPr>
            <a:picLocks noChangeAspect="1"/>
          </p:cNvPicPr>
          <p:nvPr/>
        </p:nvPicPr>
        <p:blipFill>
          <a:blip r:embed="rId1"/>
          <a:stretch>
            <a:fillRect/>
          </a:stretch>
        </p:blipFill>
        <p:spPr>
          <a:xfrm>
            <a:off x="897941" y="2507285"/>
            <a:ext cx="307238" cy="307238"/>
          </a:xfrm>
          <a:prstGeom prst="rect">
            <a:avLst/>
          </a:prstGeom>
        </p:spPr>
      </p:pic>
      <p:sp>
        <p:nvSpPr>
          <p:cNvPr id="8" name="Text 5"/>
          <p:cNvSpPr txBox="1"/>
          <p:nvPr/>
        </p:nvSpPr>
        <p:spPr>
          <a:xfrm>
            <a:off x="1508760" y="2221992"/>
            <a:ext cx="4846320" cy="347472"/>
          </a:xfrm>
          <a:prstGeom prst="rect">
            <a:avLst/>
          </a:prstGeom>
          <a:noFill/>
          <a:ln/>
        </p:spPr>
        <p:txBody>
          <a:bodyPr wrap="square" lIns="0" tIns="0" rIns="0" bIns="0" rtlCol="0" anchor="ctr"/>
          <a:lstStyle/>
          <a:p>
            <a:pPr indent="0" marL="0">
              <a:buNone/>
            </a:pPr>
            <a:r>
              <a:rPr lang="en-US" sz="1800" b="1" dirty="0">
                <a:solidFill>
                  <a:srgbClr val="FFFFFF"/>
                </a:solidFill>
              </a:rPr>
              <a:t>Google Maps</a:t>
            </a:r>
            <a:endParaRPr lang="en-US" sz="1800" dirty="0"/>
          </a:p>
        </p:txBody>
      </p:sp>
      <p:sp>
        <p:nvSpPr>
          <p:cNvPr id="9" name="Text 6"/>
          <p:cNvSpPr txBox="1"/>
          <p:nvPr/>
        </p:nvSpPr>
        <p:spPr>
          <a:xfrm>
            <a:off x="1508760" y="2569464"/>
            <a:ext cx="4892040" cy="603504"/>
          </a:xfrm>
          <a:prstGeom prst="rect">
            <a:avLst/>
          </a:prstGeom>
          <a:noFill/>
          <a:ln/>
        </p:spPr>
        <p:txBody>
          <a:bodyPr wrap="square" lIns="0" tIns="0" rIns="0" bIns="0" rtlCol="0" anchor="t"/>
          <a:lstStyle/>
          <a:p>
            <a:pPr indent="0" marL="0">
              <a:buNone/>
            </a:pPr>
            <a:r>
              <a:rPr lang="en-US" sz="1400" dirty="0">
                <a:solidFill>
                  <a:srgbClr val="D5E1E8"/>
                </a:solidFill>
              </a:rPr>
              <a:t>Alege drumul după timp și trafic. Calitatea aerului nu intră în calculul traseului.</a:t>
            </a:r>
            <a:endParaRPr lang="en-US" sz="1400" dirty="0"/>
          </a:p>
        </p:txBody>
      </p:sp>
      <p:sp>
        <p:nvSpPr>
          <p:cNvPr id="10" name="Shape 7"/>
          <p:cNvSpPr/>
          <p:nvPr/>
        </p:nvSpPr>
        <p:spPr>
          <a:xfrm>
            <a:off x="548640" y="3401568"/>
            <a:ext cx="6035040" cy="1207008"/>
          </a:xfrm>
          <a:prstGeom prst="roundRect">
            <a:avLst>
              <a:gd name="adj" fmla="val 9091"/>
            </a:avLst>
          </a:prstGeom>
          <a:solidFill>
            <a:srgbClr val="1E3240"/>
          </a:solidFill>
          <a:ln/>
        </p:spPr>
      </p:sp>
      <p:sp>
        <p:nvSpPr>
          <p:cNvPr id="11" name="Shape 8"/>
          <p:cNvSpPr/>
          <p:nvPr/>
        </p:nvSpPr>
        <p:spPr>
          <a:xfrm>
            <a:off x="777240" y="3730752"/>
            <a:ext cx="548640" cy="548640"/>
          </a:xfrm>
          <a:prstGeom prst="ellipse">
            <a:avLst/>
          </a:prstGeom>
          <a:solidFill>
            <a:srgbClr val="25404F"/>
          </a:solidFill>
          <a:ln/>
        </p:spPr>
      </p:sp>
      <p:pic>
        <p:nvPicPr>
          <p:cNvPr id="12" name="Image 1" descr="preencoded.png">    </p:cNvPr>
          <p:cNvPicPr>
            <a:picLocks noChangeAspect="1"/>
          </p:cNvPicPr>
          <p:nvPr/>
        </p:nvPicPr>
        <p:blipFill>
          <a:blip r:embed="rId2"/>
          <a:stretch>
            <a:fillRect/>
          </a:stretch>
        </p:blipFill>
        <p:spPr>
          <a:xfrm>
            <a:off x="897941" y="3851453"/>
            <a:ext cx="307238" cy="307238"/>
          </a:xfrm>
          <a:prstGeom prst="rect">
            <a:avLst/>
          </a:prstGeom>
        </p:spPr>
      </p:pic>
      <p:sp>
        <p:nvSpPr>
          <p:cNvPr id="13" name="Text 9"/>
          <p:cNvSpPr txBox="1"/>
          <p:nvPr/>
        </p:nvSpPr>
        <p:spPr>
          <a:xfrm>
            <a:off x="1508760" y="3566160"/>
            <a:ext cx="4846320" cy="347472"/>
          </a:xfrm>
          <a:prstGeom prst="rect">
            <a:avLst/>
          </a:prstGeom>
          <a:noFill/>
          <a:ln/>
        </p:spPr>
        <p:txBody>
          <a:bodyPr wrap="square" lIns="0" tIns="0" rIns="0" bIns="0" rtlCol="0" anchor="ctr"/>
          <a:lstStyle/>
          <a:p>
            <a:pPr indent="0" marL="0">
              <a:buNone/>
            </a:pPr>
            <a:r>
              <a:rPr lang="en-US" sz="1800" b="1" dirty="0">
                <a:solidFill>
                  <a:srgbClr val="FFFFFF"/>
                </a:solidFill>
              </a:rPr>
              <a:t>Waze</a:t>
            </a:r>
            <a:endParaRPr lang="en-US" sz="1800" dirty="0"/>
          </a:p>
        </p:txBody>
      </p:sp>
      <p:sp>
        <p:nvSpPr>
          <p:cNvPr id="14" name="Text 10"/>
          <p:cNvSpPr txBox="1"/>
          <p:nvPr/>
        </p:nvSpPr>
        <p:spPr>
          <a:xfrm>
            <a:off x="1508760" y="3913632"/>
            <a:ext cx="4892040" cy="603504"/>
          </a:xfrm>
          <a:prstGeom prst="rect">
            <a:avLst/>
          </a:prstGeom>
          <a:noFill/>
          <a:ln/>
        </p:spPr>
        <p:txBody>
          <a:bodyPr wrap="square" lIns="0" tIns="0" rIns="0" bIns="0" rtlCol="0" anchor="t"/>
          <a:lstStyle/>
          <a:p>
            <a:pPr indent="0" marL="0">
              <a:buNone/>
            </a:pPr>
            <a:r>
              <a:rPr lang="en-US" sz="1400" dirty="0">
                <a:solidFill>
                  <a:srgbClr val="D5E1E8"/>
                </a:solidFill>
              </a:rPr>
              <a:t>Are raportări din comunitate, dar pentru șoferi: trafic, accidente, poliție. Nu poluare, nu pietoni.</a:t>
            </a:r>
            <a:endParaRPr lang="en-US" sz="1400" dirty="0"/>
          </a:p>
        </p:txBody>
      </p:sp>
      <p:sp>
        <p:nvSpPr>
          <p:cNvPr id="15" name="Shape 11"/>
          <p:cNvSpPr/>
          <p:nvPr/>
        </p:nvSpPr>
        <p:spPr>
          <a:xfrm>
            <a:off x="548640" y="4745736"/>
            <a:ext cx="6035040" cy="1207008"/>
          </a:xfrm>
          <a:prstGeom prst="roundRect">
            <a:avLst>
              <a:gd name="adj" fmla="val 9091"/>
            </a:avLst>
          </a:prstGeom>
          <a:solidFill>
            <a:srgbClr val="1E3240"/>
          </a:solidFill>
          <a:ln/>
        </p:spPr>
      </p:sp>
      <p:sp>
        <p:nvSpPr>
          <p:cNvPr id="16" name="Shape 12"/>
          <p:cNvSpPr/>
          <p:nvPr/>
        </p:nvSpPr>
        <p:spPr>
          <a:xfrm>
            <a:off x="777240" y="5074920"/>
            <a:ext cx="548640" cy="548640"/>
          </a:xfrm>
          <a:prstGeom prst="ellipse">
            <a:avLst/>
          </a:prstGeom>
          <a:solidFill>
            <a:srgbClr val="25404F"/>
          </a:solidFill>
          <a:ln/>
        </p:spPr>
      </p:sp>
      <p:pic>
        <p:nvPicPr>
          <p:cNvPr id="17" name="Image 2" descr="preencoded.png">    </p:cNvPr>
          <p:cNvPicPr>
            <a:picLocks noChangeAspect="1"/>
          </p:cNvPicPr>
          <p:nvPr/>
        </p:nvPicPr>
        <p:blipFill>
          <a:blip r:embed="rId3"/>
          <a:stretch>
            <a:fillRect/>
          </a:stretch>
        </p:blipFill>
        <p:spPr>
          <a:xfrm>
            <a:off x="897941" y="5195621"/>
            <a:ext cx="307238" cy="307238"/>
          </a:xfrm>
          <a:prstGeom prst="rect">
            <a:avLst/>
          </a:prstGeom>
        </p:spPr>
      </p:pic>
      <p:sp>
        <p:nvSpPr>
          <p:cNvPr id="18" name="Text 13"/>
          <p:cNvSpPr txBox="1"/>
          <p:nvPr/>
        </p:nvSpPr>
        <p:spPr>
          <a:xfrm>
            <a:off x="1508760" y="4910328"/>
            <a:ext cx="4846320" cy="347472"/>
          </a:xfrm>
          <a:prstGeom prst="rect">
            <a:avLst/>
          </a:prstGeom>
          <a:noFill/>
          <a:ln/>
        </p:spPr>
        <p:txBody>
          <a:bodyPr wrap="square" lIns="0" tIns="0" rIns="0" bIns="0" rtlCol="0" anchor="ctr"/>
          <a:lstStyle/>
          <a:p>
            <a:pPr indent="0" marL="0">
              <a:buNone/>
            </a:pPr>
            <a:r>
              <a:rPr lang="en-US" sz="1800" b="1" dirty="0">
                <a:solidFill>
                  <a:srgbClr val="FFFFFF"/>
                </a:solidFill>
              </a:rPr>
              <a:t>Nimic</a:t>
            </a:r>
            <a:endParaRPr lang="en-US" sz="1800" dirty="0"/>
          </a:p>
        </p:txBody>
      </p:sp>
      <p:sp>
        <p:nvSpPr>
          <p:cNvPr id="19" name="Text 14"/>
          <p:cNvSpPr txBox="1"/>
          <p:nvPr/>
        </p:nvSpPr>
        <p:spPr>
          <a:xfrm>
            <a:off x="1508760" y="5257800"/>
            <a:ext cx="4892040" cy="603504"/>
          </a:xfrm>
          <a:prstGeom prst="rect">
            <a:avLst/>
          </a:prstGeom>
          <a:noFill/>
          <a:ln/>
        </p:spPr>
        <p:txBody>
          <a:bodyPr wrap="square" lIns="0" tIns="0" rIns="0" bIns="0" rtlCol="0" anchor="t"/>
          <a:lstStyle/>
          <a:p>
            <a:pPr indent="0" marL="0">
              <a:buNone/>
            </a:pPr>
            <a:r>
              <a:rPr lang="en-US" sz="1400" dirty="0">
                <a:solidFill>
                  <a:srgbClr val="D5E1E8"/>
                </a:solidFill>
              </a:rPr>
              <a:t>Merg pe drumul obișnuit, de obicei cel mai scurt, chiar dacă trece pe bulevardele aglomerate.</a:t>
            </a:r>
            <a:endParaRPr lang="en-US" sz="1400" dirty="0"/>
          </a:p>
        </p:txBody>
      </p:sp>
      <p:sp>
        <p:nvSpPr>
          <p:cNvPr id="20" name="Text 15"/>
          <p:cNvSpPr txBox="1"/>
          <p:nvPr/>
        </p:nvSpPr>
        <p:spPr>
          <a:xfrm>
            <a:off x="6949440" y="1691640"/>
            <a:ext cx="45720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DOVEZI CĂ PROBLEMA EXISTĂ</a:t>
            </a:r>
            <a:endParaRPr lang="en-US" sz="1100" dirty="0"/>
          </a:p>
        </p:txBody>
      </p:sp>
      <p:sp>
        <p:nvSpPr>
          <p:cNvPr id="21" name="Shape 16"/>
          <p:cNvSpPr/>
          <p:nvPr/>
        </p:nvSpPr>
        <p:spPr>
          <a:xfrm>
            <a:off x="6949440" y="2057400"/>
            <a:ext cx="4690872" cy="1207008"/>
          </a:xfrm>
          <a:prstGeom prst="roundRect">
            <a:avLst>
              <a:gd name="adj" fmla="val 9091"/>
            </a:avLst>
          </a:prstGeom>
          <a:solidFill>
            <a:srgbClr val="1E3240"/>
          </a:solidFill>
          <a:ln/>
        </p:spPr>
      </p:sp>
      <p:sp>
        <p:nvSpPr>
          <p:cNvPr id="22" name="Text 17"/>
          <p:cNvSpPr txBox="1"/>
          <p:nvPr/>
        </p:nvSpPr>
        <p:spPr>
          <a:xfrm>
            <a:off x="7132320" y="2194560"/>
            <a:ext cx="1325880" cy="914400"/>
          </a:xfrm>
          <a:prstGeom prst="rect">
            <a:avLst/>
          </a:prstGeom>
          <a:noFill/>
          <a:ln/>
        </p:spPr>
        <p:txBody>
          <a:bodyPr wrap="square" lIns="0" tIns="0" rIns="0" bIns="0" rtlCol="0" anchor="ctr"/>
          <a:lstStyle/>
          <a:p>
            <a:pPr indent="0" marL="0">
              <a:buNone/>
            </a:pPr>
            <a:r>
              <a:rPr lang="en-US" sz="2400" b="1" dirty="0">
                <a:solidFill>
                  <a:srgbClr val="EF6B55"/>
                </a:solidFill>
              </a:rPr>
              <a:t>35/35</a:t>
            </a:r>
            <a:endParaRPr lang="en-US" sz="2400" dirty="0"/>
          </a:p>
        </p:txBody>
      </p:sp>
      <p:sp>
        <p:nvSpPr>
          <p:cNvPr id="23" name="Text 18"/>
          <p:cNvSpPr txBox="1"/>
          <p:nvPr/>
        </p:nvSpPr>
        <p:spPr>
          <a:xfrm>
            <a:off x="8503920" y="2176272"/>
            <a:ext cx="3017520" cy="731520"/>
          </a:xfrm>
          <a:prstGeom prst="rect">
            <a:avLst/>
          </a:prstGeom>
          <a:noFill/>
          <a:ln/>
        </p:spPr>
        <p:txBody>
          <a:bodyPr wrap="square" lIns="0" tIns="0" rIns="0" bIns="0" rtlCol="0" anchor="t"/>
          <a:lstStyle/>
          <a:p>
            <a:pPr indent="0" marL="0">
              <a:buNone/>
            </a:pPr>
            <a:r>
              <a:rPr lang="en-US" sz="1300" dirty="0">
                <a:solidFill>
                  <a:srgbClr val="FFFFFF"/>
                </a:solidFill>
              </a:rPr>
              <a:t>Podu de Piatră a atins în 11 luni plafonul anual de depășiri PM10.</a:t>
            </a:r>
            <a:endParaRPr lang="en-US" sz="1300" dirty="0"/>
          </a:p>
        </p:txBody>
      </p:sp>
      <p:sp>
        <p:nvSpPr>
          <p:cNvPr id="24" name="Text 19"/>
          <p:cNvSpPr txBox="1"/>
          <p:nvPr/>
        </p:nvSpPr>
        <p:spPr>
          <a:xfrm>
            <a:off x="8503920" y="2907792"/>
            <a:ext cx="3017520" cy="274320"/>
          </a:xfrm>
          <a:prstGeom prst="rect">
            <a:avLst/>
          </a:prstGeom>
          <a:noFill/>
          <a:ln/>
        </p:spPr>
        <p:txBody>
          <a:bodyPr wrap="square" lIns="0" tIns="0" rIns="0" bIns="0" rtlCol="0" anchor="ctr"/>
          <a:lstStyle/>
          <a:p>
            <a:pPr indent="0" marL="0">
              <a:buNone/>
            </a:pPr>
            <a:r>
              <a:rPr lang="en-US" sz="1000" dirty="0">
                <a:solidFill>
                  <a:srgbClr val="8EA4B2"/>
                </a:solidFill>
              </a:rPr>
              <a:t>APM Iași, prin BZI.ro, 2024</a:t>
            </a:r>
            <a:endParaRPr lang="en-US" sz="1000" dirty="0"/>
          </a:p>
        </p:txBody>
      </p:sp>
      <p:sp>
        <p:nvSpPr>
          <p:cNvPr id="25" name="Shape 20"/>
          <p:cNvSpPr/>
          <p:nvPr/>
        </p:nvSpPr>
        <p:spPr>
          <a:xfrm>
            <a:off x="6949440" y="3401568"/>
            <a:ext cx="4690872" cy="1207008"/>
          </a:xfrm>
          <a:prstGeom prst="roundRect">
            <a:avLst>
              <a:gd name="adj" fmla="val 9091"/>
            </a:avLst>
          </a:prstGeom>
          <a:solidFill>
            <a:srgbClr val="1E3240"/>
          </a:solidFill>
          <a:ln/>
        </p:spPr>
      </p:sp>
      <p:sp>
        <p:nvSpPr>
          <p:cNvPr id="26" name="Text 21"/>
          <p:cNvSpPr txBox="1"/>
          <p:nvPr/>
        </p:nvSpPr>
        <p:spPr>
          <a:xfrm>
            <a:off x="7132320" y="3538728"/>
            <a:ext cx="1325880" cy="914400"/>
          </a:xfrm>
          <a:prstGeom prst="rect">
            <a:avLst/>
          </a:prstGeom>
          <a:noFill/>
          <a:ln/>
        </p:spPr>
        <p:txBody>
          <a:bodyPr wrap="square" lIns="0" tIns="0" rIns="0" bIns="0" rtlCol="0" anchor="ctr"/>
          <a:lstStyle/>
          <a:p>
            <a:pPr indent="0" marL="0">
              <a:buNone/>
            </a:pPr>
            <a:r>
              <a:rPr lang="en-US" sz="2400" b="1" dirty="0">
                <a:solidFill>
                  <a:srgbClr val="EF6B55"/>
                </a:solidFill>
              </a:rPr>
              <a:t>NO₂</a:t>
            </a:r>
            <a:endParaRPr lang="en-US" sz="2400" dirty="0"/>
          </a:p>
        </p:txBody>
      </p:sp>
      <p:sp>
        <p:nvSpPr>
          <p:cNvPr id="27" name="Text 22"/>
          <p:cNvSpPr txBox="1"/>
          <p:nvPr/>
        </p:nvSpPr>
        <p:spPr>
          <a:xfrm>
            <a:off x="8503920" y="3520440"/>
            <a:ext cx="3017520" cy="731520"/>
          </a:xfrm>
          <a:prstGeom prst="rect">
            <a:avLst/>
          </a:prstGeom>
          <a:noFill/>
          <a:ln/>
        </p:spPr>
        <p:txBody>
          <a:bodyPr wrap="square" lIns="0" tIns="0" rIns="0" bIns="0" rtlCol="0" anchor="t"/>
          <a:lstStyle/>
          <a:p>
            <a:pPr indent="0" marL="0">
              <a:buNone/>
            </a:pPr>
            <a:r>
              <a:rPr lang="en-US" sz="1300" dirty="0">
                <a:solidFill>
                  <a:srgbClr val="FFFFFF"/>
                </a:solidFill>
              </a:rPr>
              <a:t>Comisia Europeană a deschis procedura de infringement: limitele NO₂ nerespectate în Iași și alte 4 orașe.</a:t>
            </a:r>
            <a:endParaRPr lang="en-US" sz="1300" dirty="0"/>
          </a:p>
        </p:txBody>
      </p:sp>
      <p:sp>
        <p:nvSpPr>
          <p:cNvPr id="28" name="Text 23"/>
          <p:cNvSpPr txBox="1"/>
          <p:nvPr/>
        </p:nvSpPr>
        <p:spPr>
          <a:xfrm>
            <a:off x="8503920" y="4251960"/>
            <a:ext cx="3017520" cy="274320"/>
          </a:xfrm>
          <a:prstGeom prst="rect">
            <a:avLst/>
          </a:prstGeom>
          <a:noFill/>
          <a:ln/>
        </p:spPr>
        <p:txBody>
          <a:bodyPr wrap="square" lIns="0" tIns="0" rIns="0" bIns="0" rtlCol="0" anchor="ctr"/>
          <a:lstStyle/>
          <a:p>
            <a:pPr indent="0" marL="0">
              <a:buNone/>
            </a:pPr>
            <a:r>
              <a:rPr lang="en-US" sz="1000" dirty="0">
                <a:solidFill>
                  <a:srgbClr val="8EA4B2"/>
                </a:solidFill>
              </a:rPr>
              <a:t>Comisia Europeană, 14 mai 2020</a:t>
            </a:r>
            <a:endParaRPr lang="en-US" sz="1000" dirty="0"/>
          </a:p>
        </p:txBody>
      </p:sp>
      <p:sp>
        <p:nvSpPr>
          <p:cNvPr id="29" name="Shape 24"/>
          <p:cNvSpPr/>
          <p:nvPr/>
        </p:nvSpPr>
        <p:spPr>
          <a:xfrm>
            <a:off x="6949440" y="4745736"/>
            <a:ext cx="4690872" cy="1207008"/>
          </a:xfrm>
          <a:prstGeom prst="roundRect">
            <a:avLst>
              <a:gd name="adj" fmla="val 9091"/>
            </a:avLst>
          </a:prstGeom>
          <a:solidFill>
            <a:srgbClr val="1E3240"/>
          </a:solidFill>
          <a:ln/>
        </p:spPr>
      </p:sp>
      <p:sp>
        <p:nvSpPr>
          <p:cNvPr id="30" name="Text 25"/>
          <p:cNvSpPr txBox="1"/>
          <p:nvPr/>
        </p:nvSpPr>
        <p:spPr>
          <a:xfrm>
            <a:off x="7132320" y="4882896"/>
            <a:ext cx="1325880" cy="914400"/>
          </a:xfrm>
          <a:prstGeom prst="rect">
            <a:avLst/>
          </a:prstGeom>
          <a:noFill/>
          <a:ln/>
        </p:spPr>
        <p:txBody>
          <a:bodyPr wrap="square" lIns="0" tIns="0" rIns="0" bIns="0" rtlCol="0" anchor="ctr"/>
          <a:lstStyle/>
          <a:p>
            <a:pPr indent="0" marL="0">
              <a:buNone/>
            </a:pPr>
            <a:r>
              <a:rPr lang="en-US" sz="2400" b="1" dirty="0">
                <a:solidFill>
                  <a:srgbClr val="EF6B55"/>
                </a:solidFill>
              </a:rPr>
              <a:t>9+ zile</a:t>
            </a:r>
            <a:endParaRPr lang="en-US" sz="2400" dirty="0"/>
          </a:p>
        </p:txBody>
      </p:sp>
      <p:sp>
        <p:nvSpPr>
          <p:cNvPr id="31" name="Text 26"/>
          <p:cNvSpPr txBox="1"/>
          <p:nvPr/>
        </p:nvSpPr>
        <p:spPr>
          <a:xfrm>
            <a:off x="8503920" y="4864608"/>
            <a:ext cx="3017520" cy="731520"/>
          </a:xfrm>
          <a:prstGeom prst="rect">
            <a:avLst/>
          </a:prstGeom>
          <a:noFill/>
          <a:ln/>
        </p:spPr>
        <p:txBody>
          <a:bodyPr wrap="square" lIns="0" tIns="0" rIns="0" bIns="0" rtlCol="0" anchor="t"/>
          <a:lstStyle/>
          <a:p>
            <a:pPr indent="0" marL="0">
              <a:buNone/>
            </a:pPr>
            <a:r>
              <a:rPr lang="en-US" sz="1300" dirty="0">
                <a:solidFill>
                  <a:srgbClr val="FFFFFF"/>
                </a:solidFill>
              </a:rPr>
              <a:t>pe an pierd șoferii din Iași în trafic: mai multe mașini pe aceleași bulevarde.</a:t>
            </a:r>
            <a:endParaRPr lang="en-US" sz="1300" dirty="0"/>
          </a:p>
        </p:txBody>
      </p:sp>
      <p:sp>
        <p:nvSpPr>
          <p:cNvPr id="32" name="Text 27"/>
          <p:cNvSpPr txBox="1"/>
          <p:nvPr/>
        </p:nvSpPr>
        <p:spPr>
          <a:xfrm>
            <a:off x="8503920" y="5596128"/>
            <a:ext cx="3017520" cy="274320"/>
          </a:xfrm>
          <a:prstGeom prst="rect">
            <a:avLst/>
          </a:prstGeom>
          <a:noFill/>
          <a:ln/>
        </p:spPr>
        <p:txBody>
          <a:bodyPr wrap="square" lIns="0" tIns="0" rIns="0" bIns="0" rtlCol="0" anchor="ctr"/>
          <a:lstStyle/>
          <a:p>
            <a:pPr indent="0" marL="0">
              <a:buNone/>
            </a:pPr>
            <a:r>
              <a:rPr lang="en-US" sz="1000" dirty="0">
                <a:solidFill>
                  <a:srgbClr val="8EA4B2"/>
                </a:solidFill>
              </a:rPr>
              <a:t>Institutul pentru Orașe Vizionare, Indexul de Trafic, 2025</a:t>
            </a:r>
            <a:endParaRPr lang="en-US" sz="1000" dirty="0"/>
          </a:p>
        </p:txBody>
      </p:sp>
      <p:sp>
        <p:nvSpPr>
          <p:cNvPr id="33" name="Text 28"/>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3 /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B — SOLUȚIA</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Trei trasee. Tu alegi cât de curat respiri</a:t>
            </a:r>
            <a:endParaRPr lang="en-US" sz="3400" dirty="0"/>
          </a:p>
        </p:txBody>
      </p:sp>
      <p:sp>
        <p:nvSpPr>
          <p:cNvPr id="4" name="Text 2"/>
          <p:cNvSpPr txBox="1"/>
          <p:nvPr/>
        </p:nvSpPr>
        <p:spPr>
          <a:xfrm>
            <a:off x="548640" y="1691640"/>
            <a:ext cx="11064240" cy="914400"/>
          </a:xfrm>
          <a:prstGeom prst="rect">
            <a:avLst/>
          </a:prstGeom>
          <a:noFill/>
          <a:ln/>
        </p:spPr>
        <p:txBody>
          <a:bodyPr wrap="square" lIns="0" tIns="0" rIns="0" bIns="0" rtlCol="0" anchor="t"/>
          <a:lstStyle/>
          <a:p>
            <a:pPr indent="0" marL="0">
              <a:buNone/>
            </a:pPr>
            <a:r>
              <a:rPr lang="en-US" sz="2200" b="1" dirty="0">
                <a:solidFill>
                  <a:srgbClr val="34C38F"/>
                </a:solidFill>
              </a:rPr>
              <a:t>EcoPulse</a:t>
            </a:r>
            <a:pPr indent="0" marL="0">
              <a:buNone/>
            </a:pPr>
            <a:r>
              <a:rPr lang="en-US" sz="2200" dirty="0">
                <a:solidFill>
                  <a:srgbClr val="FFFFFF"/>
                </a:solidFill>
              </a:rPr>
              <a:t> îl ajută pe ieșeanul care merge pe jos sau cu bicicleta să </a:t>
            </a:r>
            <a:pPr indent="0" marL="0">
              <a:buNone/>
            </a:pPr>
            <a:r>
              <a:rPr lang="en-US" sz="2200" b="1" dirty="0">
                <a:solidFill>
                  <a:srgbClr val="FFFFFF"/>
                </a:solidFill>
              </a:rPr>
              <a:t>aleagă traseul cu cea mai mică expunere la poluare</a:t>
            </a:r>
            <a:pPr indent="0" marL="0">
              <a:buNone/>
            </a:pPr>
            <a:r>
              <a:rPr lang="en-US" sz="2200" dirty="0">
                <a:solidFill>
                  <a:srgbClr val="FFFFFF"/>
                </a:solidFill>
              </a:rPr>
              <a:t>, ca să ajungă la destinație respirând aer mai curat.</a:t>
            </a:r>
            <a:endParaRPr lang="en-US" sz="2200" dirty="0"/>
          </a:p>
        </p:txBody>
      </p:sp>
      <p:sp>
        <p:nvSpPr>
          <p:cNvPr id="5" name="Shape 3"/>
          <p:cNvSpPr/>
          <p:nvPr/>
        </p:nvSpPr>
        <p:spPr>
          <a:xfrm>
            <a:off x="548640" y="2834640"/>
            <a:ext cx="3383280" cy="1874520"/>
          </a:xfrm>
          <a:prstGeom prst="roundRect">
            <a:avLst>
              <a:gd name="adj" fmla="val 5854"/>
            </a:avLst>
          </a:prstGeom>
          <a:solidFill>
            <a:srgbClr val="1E3240"/>
          </a:solidFill>
          <a:ln/>
        </p:spPr>
      </p:sp>
      <p:sp>
        <p:nvSpPr>
          <p:cNvPr id="6" name="Shape 4"/>
          <p:cNvSpPr/>
          <p:nvPr/>
        </p:nvSpPr>
        <p:spPr>
          <a:xfrm>
            <a:off x="777240" y="3063240"/>
            <a:ext cx="548640" cy="548640"/>
          </a:xfrm>
          <a:prstGeom prst="ellipse">
            <a:avLst/>
          </a:prstGeom>
          <a:solidFill>
            <a:srgbClr val="34C38F"/>
          </a:solidFill>
          <a:ln/>
        </p:spPr>
      </p:sp>
      <p:pic>
        <p:nvPicPr>
          <p:cNvPr id="7" name="Image 0" descr="preencoded.png">    </p:cNvPr>
          <p:cNvPicPr>
            <a:picLocks noChangeAspect="1"/>
          </p:cNvPicPr>
          <p:nvPr/>
        </p:nvPicPr>
        <p:blipFill>
          <a:blip r:embed="rId1"/>
          <a:stretch>
            <a:fillRect/>
          </a:stretch>
        </p:blipFill>
        <p:spPr>
          <a:xfrm>
            <a:off x="897941" y="3183941"/>
            <a:ext cx="307238" cy="307238"/>
          </a:xfrm>
          <a:prstGeom prst="rect">
            <a:avLst/>
          </a:prstGeom>
        </p:spPr>
      </p:pic>
      <p:sp>
        <p:nvSpPr>
          <p:cNvPr id="8" name="Text 5"/>
          <p:cNvSpPr txBox="1"/>
          <p:nvPr/>
        </p:nvSpPr>
        <p:spPr>
          <a:xfrm>
            <a:off x="1463040" y="3200400"/>
            <a:ext cx="219456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INTRĂ</a:t>
            </a:r>
            <a:endParaRPr lang="en-US" sz="1100" dirty="0"/>
          </a:p>
        </p:txBody>
      </p:sp>
      <p:sp>
        <p:nvSpPr>
          <p:cNvPr id="9" name="Text 6"/>
          <p:cNvSpPr txBox="1"/>
          <p:nvPr/>
        </p:nvSpPr>
        <p:spPr>
          <a:xfrm>
            <a:off x="777240" y="3767328"/>
            <a:ext cx="2926080" cy="1188720"/>
          </a:xfrm>
          <a:prstGeom prst="rect">
            <a:avLst/>
          </a:prstGeom>
          <a:noFill/>
          <a:ln/>
        </p:spPr>
        <p:txBody>
          <a:bodyPr wrap="square" lIns="0" tIns="0" rIns="0" bIns="0" rtlCol="0" anchor="t"/>
          <a:lstStyle/>
          <a:p>
            <a:pPr indent="0" marL="0">
              <a:buNone/>
            </a:pPr>
            <a:r>
              <a:rPr lang="en-US" sz="1500" dirty="0">
                <a:solidFill>
                  <a:srgbClr val="FFFFFF"/>
                </a:solidFill>
              </a:rPr>
              <a:t>Plecarea, destinația, modul de deplasare și ora plecării</a:t>
            </a:r>
            <a:endParaRPr lang="en-US" sz="1500" dirty="0"/>
          </a:p>
        </p:txBody>
      </p:sp>
      <p:pic>
        <p:nvPicPr>
          <p:cNvPr id="10" name="Image 1" descr="preencoded.png">    </p:cNvPr>
          <p:cNvPicPr>
            <a:picLocks noChangeAspect="1"/>
          </p:cNvPicPr>
          <p:nvPr/>
        </p:nvPicPr>
        <p:blipFill>
          <a:blip r:embed="rId2"/>
          <a:stretch>
            <a:fillRect/>
          </a:stretch>
        </p:blipFill>
        <p:spPr>
          <a:xfrm>
            <a:off x="4023360" y="3767328"/>
            <a:ext cx="274320" cy="274320"/>
          </a:xfrm>
          <a:prstGeom prst="rect">
            <a:avLst/>
          </a:prstGeom>
        </p:spPr>
      </p:pic>
      <p:sp>
        <p:nvSpPr>
          <p:cNvPr id="11" name="Shape 7"/>
          <p:cNvSpPr/>
          <p:nvPr/>
        </p:nvSpPr>
        <p:spPr>
          <a:xfrm>
            <a:off x="4389120" y="2834640"/>
            <a:ext cx="3383280" cy="1874520"/>
          </a:xfrm>
          <a:prstGeom prst="roundRect">
            <a:avLst>
              <a:gd name="adj" fmla="val 5854"/>
            </a:avLst>
          </a:prstGeom>
          <a:solidFill>
            <a:srgbClr val="1E3240"/>
          </a:solidFill>
          <a:ln/>
        </p:spPr>
      </p:sp>
      <p:sp>
        <p:nvSpPr>
          <p:cNvPr id="12" name="Shape 8"/>
          <p:cNvSpPr/>
          <p:nvPr/>
        </p:nvSpPr>
        <p:spPr>
          <a:xfrm>
            <a:off x="4617720" y="3063240"/>
            <a:ext cx="548640" cy="548640"/>
          </a:xfrm>
          <a:prstGeom prst="ellipse">
            <a:avLst/>
          </a:prstGeom>
          <a:solidFill>
            <a:srgbClr val="34C38F"/>
          </a:solidFill>
          <a:ln/>
        </p:spPr>
      </p:sp>
      <p:pic>
        <p:nvPicPr>
          <p:cNvPr id="13" name="Image 2" descr="preencoded.png">    </p:cNvPr>
          <p:cNvPicPr>
            <a:picLocks noChangeAspect="1"/>
          </p:cNvPicPr>
          <p:nvPr/>
        </p:nvPicPr>
        <p:blipFill>
          <a:blip r:embed="rId3"/>
          <a:stretch>
            <a:fillRect/>
          </a:stretch>
        </p:blipFill>
        <p:spPr>
          <a:xfrm>
            <a:off x="4738421" y="3183941"/>
            <a:ext cx="307238" cy="307238"/>
          </a:xfrm>
          <a:prstGeom prst="rect">
            <a:avLst/>
          </a:prstGeom>
        </p:spPr>
      </p:pic>
      <p:sp>
        <p:nvSpPr>
          <p:cNvPr id="14" name="Text 9"/>
          <p:cNvSpPr txBox="1"/>
          <p:nvPr/>
        </p:nvSpPr>
        <p:spPr>
          <a:xfrm>
            <a:off x="5303520" y="3200400"/>
            <a:ext cx="219456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FACE</a:t>
            </a:r>
            <a:endParaRPr lang="en-US" sz="1100" dirty="0"/>
          </a:p>
        </p:txBody>
      </p:sp>
      <p:sp>
        <p:nvSpPr>
          <p:cNvPr id="15" name="Text 10"/>
          <p:cNvSpPr txBox="1"/>
          <p:nvPr/>
        </p:nvSpPr>
        <p:spPr>
          <a:xfrm>
            <a:off x="4617720" y="3767328"/>
            <a:ext cx="2926080" cy="1188720"/>
          </a:xfrm>
          <a:prstGeom prst="rect">
            <a:avLst/>
          </a:prstGeom>
          <a:noFill/>
          <a:ln/>
        </p:spPr>
        <p:txBody>
          <a:bodyPr wrap="square" lIns="0" tIns="0" rIns="0" bIns="0" rtlCol="0" anchor="t"/>
          <a:lstStyle/>
          <a:p>
            <a:pPr indent="0" marL="0">
              <a:buNone/>
            </a:pPr>
            <a:r>
              <a:rPr lang="en-US" sz="1500" dirty="0">
                <a:solidFill>
                  <a:srgbClr val="FFFFFF"/>
                </a:solidFill>
              </a:rPr>
              <a:t>Combină senzorii de aer, prognoza, traficul, șantierele și raportările și dă un scor de expunere fiecărui traseu</a:t>
            </a:r>
            <a:endParaRPr lang="en-US" sz="1500" dirty="0"/>
          </a:p>
        </p:txBody>
      </p:sp>
      <p:pic>
        <p:nvPicPr>
          <p:cNvPr id="16" name="Image 3" descr="preencoded.png">    </p:cNvPr>
          <p:cNvPicPr>
            <a:picLocks noChangeAspect="1"/>
          </p:cNvPicPr>
          <p:nvPr/>
        </p:nvPicPr>
        <p:blipFill>
          <a:blip r:embed="rId4"/>
          <a:stretch>
            <a:fillRect/>
          </a:stretch>
        </p:blipFill>
        <p:spPr>
          <a:xfrm>
            <a:off x="7863840" y="3767328"/>
            <a:ext cx="274320" cy="274320"/>
          </a:xfrm>
          <a:prstGeom prst="rect">
            <a:avLst/>
          </a:prstGeom>
        </p:spPr>
      </p:pic>
      <p:sp>
        <p:nvSpPr>
          <p:cNvPr id="17" name="Shape 11"/>
          <p:cNvSpPr/>
          <p:nvPr/>
        </p:nvSpPr>
        <p:spPr>
          <a:xfrm>
            <a:off x="8229600" y="2834640"/>
            <a:ext cx="3383280" cy="1874520"/>
          </a:xfrm>
          <a:prstGeom prst="roundRect">
            <a:avLst>
              <a:gd name="adj" fmla="val 5854"/>
            </a:avLst>
          </a:prstGeom>
          <a:solidFill>
            <a:srgbClr val="1E3240"/>
          </a:solidFill>
          <a:ln/>
        </p:spPr>
      </p:sp>
      <p:sp>
        <p:nvSpPr>
          <p:cNvPr id="18" name="Shape 12"/>
          <p:cNvSpPr/>
          <p:nvPr/>
        </p:nvSpPr>
        <p:spPr>
          <a:xfrm>
            <a:off x="8458200" y="3063240"/>
            <a:ext cx="548640" cy="548640"/>
          </a:xfrm>
          <a:prstGeom prst="ellipse">
            <a:avLst/>
          </a:prstGeom>
          <a:solidFill>
            <a:srgbClr val="34C38F"/>
          </a:solidFill>
          <a:ln/>
        </p:spPr>
      </p:sp>
      <p:pic>
        <p:nvPicPr>
          <p:cNvPr id="19" name="Image 4" descr="preencoded.png">    </p:cNvPr>
          <p:cNvPicPr>
            <a:picLocks noChangeAspect="1"/>
          </p:cNvPicPr>
          <p:nvPr/>
        </p:nvPicPr>
        <p:blipFill>
          <a:blip r:embed="rId5"/>
          <a:stretch>
            <a:fillRect/>
          </a:stretch>
        </p:blipFill>
        <p:spPr>
          <a:xfrm>
            <a:off x="8578901" y="3183941"/>
            <a:ext cx="307238" cy="307238"/>
          </a:xfrm>
          <a:prstGeom prst="rect">
            <a:avLst/>
          </a:prstGeom>
        </p:spPr>
      </p:pic>
      <p:sp>
        <p:nvSpPr>
          <p:cNvPr id="20" name="Text 13"/>
          <p:cNvSpPr txBox="1"/>
          <p:nvPr/>
        </p:nvSpPr>
        <p:spPr>
          <a:xfrm>
            <a:off x="9144000" y="3200400"/>
            <a:ext cx="219456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IESE</a:t>
            </a:r>
            <a:endParaRPr lang="en-US" sz="1100" dirty="0"/>
          </a:p>
        </p:txBody>
      </p:sp>
      <p:sp>
        <p:nvSpPr>
          <p:cNvPr id="21" name="Text 14"/>
          <p:cNvSpPr txBox="1"/>
          <p:nvPr/>
        </p:nvSpPr>
        <p:spPr>
          <a:xfrm>
            <a:off x="8458200" y="3767328"/>
            <a:ext cx="2926080" cy="1188720"/>
          </a:xfrm>
          <a:prstGeom prst="rect">
            <a:avLst/>
          </a:prstGeom>
          <a:noFill/>
          <a:ln/>
        </p:spPr>
        <p:txBody>
          <a:bodyPr wrap="square" lIns="0" tIns="0" rIns="0" bIns="0" rtlCol="0" anchor="t"/>
          <a:lstStyle/>
          <a:p>
            <a:pPr indent="0" marL="0">
              <a:buNone/>
            </a:pPr>
            <a:r>
              <a:rPr lang="en-US" sz="1500" dirty="0">
                <a:solidFill>
                  <a:srgbClr val="FFFFFF"/>
                </a:solidFill>
              </a:rPr>
              <a:t>3 trasee: cel mai curat, echilibrat, cel mai rapid. Cu un click, traseul se deschide în Google Maps</a:t>
            </a:r>
            <a:endParaRPr lang="en-US" sz="1500" dirty="0"/>
          </a:p>
        </p:txBody>
      </p:sp>
      <p:sp>
        <p:nvSpPr>
          <p:cNvPr id="22" name="Shape 15"/>
          <p:cNvSpPr/>
          <p:nvPr/>
        </p:nvSpPr>
        <p:spPr>
          <a:xfrm>
            <a:off x="548640" y="5074920"/>
            <a:ext cx="5394960" cy="777240"/>
          </a:xfrm>
          <a:prstGeom prst="roundRect">
            <a:avLst>
              <a:gd name="adj" fmla="val 14118"/>
            </a:avLst>
          </a:prstGeom>
          <a:solidFill>
            <a:srgbClr val="1C3A33"/>
          </a:solidFill>
          <a:ln/>
        </p:spPr>
      </p:sp>
      <p:sp>
        <p:nvSpPr>
          <p:cNvPr id="23" name="Text 16"/>
          <p:cNvSpPr txBox="1"/>
          <p:nvPr/>
        </p:nvSpPr>
        <p:spPr>
          <a:xfrm>
            <a:off x="731520" y="5138928"/>
            <a:ext cx="5029200" cy="658368"/>
          </a:xfrm>
          <a:prstGeom prst="rect">
            <a:avLst/>
          </a:prstGeom>
          <a:noFill/>
          <a:ln/>
        </p:spPr>
        <p:txBody>
          <a:bodyPr wrap="square" lIns="0" tIns="0" rIns="0" bIns="0" rtlCol="0" anchor="ctr"/>
          <a:lstStyle/>
          <a:p>
            <a:pPr indent="0" marL="0">
              <a:buNone/>
            </a:pPr>
            <a:r>
              <a:rPr lang="en-US" sz="1300" b="1" dirty="0">
                <a:solidFill>
                  <a:srgbClr val="34C38F"/>
                </a:solidFill>
              </a:rPr>
              <a:t>REAL  </a:t>
            </a:r>
            <a:pPr indent="0" marL="0">
              <a:buNone/>
            </a:pPr>
            <a:r>
              <a:rPr lang="en-US" sz="1300" dirty="0">
                <a:solidFill>
                  <a:srgbClr val="FFFFFF"/>
                </a:solidFill>
              </a:rPr>
              <a:t>senzori Sensor.Community, prognoză CAMS / Open-Meteo, străzi OpenStreetMap, rutare OSRM</a:t>
            </a:r>
            <a:endParaRPr lang="en-US" sz="1300" dirty="0"/>
          </a:p>
        </p:txBody>
      </p:sp>
      <p:sp>
        <p:nvSpPr>
          <p:cNvPr id="24" name="Shape 17"/>
          <p:cNvSpPr/>
          <p:nvPr/>
        </p:nvSpPr>
        <p:spPr>
          <a:xfrm>
            <a:off x="6245352" y="5074920"/>
            <a:ext cx="5394960" cy="777240"/>
          </a:xfrm>
          <a:prstGeom prst="roundRect">
            <a:avLst>
              <a:gd name="adj" fmla="val 14118"/>
            </a:avLst>
          </a:prstGeom>
          <a:solidFill>
            <a:srgbClr val="3A2F24"/>
          </a:solidFill>
          <a:ln/>
        </p:spPr>
      </p:sp>
      <p:sp>
        <p:nvSpPr>
          <p:cNvPr id="25" name="Text 18"/>
          <p:cNvSpPr txBox="1"/>
          <p:nvPr/>
        </p:nvSpPr>
        <p:spPr>
          <a:xfrm>
            <a:off x="6428232" y="5138928"/>
            <a:ext cx="5029200" cy="658368"/>
          </a:xfrm>
          <a:prstGeom prst="rect">
            <a:avLst/>
          </a:prstGeom>
          <a:noFill/>
          <a:ln/>
        </p:spPr>
        <p:txBody>
          <a:bodyPr wrap="square" lIns="0" tIns="0" rIns="0" bIns="0" rtlCol="0" anchor="ctr"/>
          <a:lstStyle/>
          <a:p>
            <a:pPr indent="0" marL="0">
              <a:buNone/>
            </a:pPr>
            <a:r>
              <a:rPr lang="en-US" sz="1300" b="1" dirty="0">
                <a:solidFill>
                  <a:srgbClr val="F2B84B"/>
                </a:solidFill>
              </a:rPr>
              <a:t>ESTIMAT  </a:t>
            </a:r>
            <a:pPr indent="0" marL="0">
              <a:buNone/>
            </a:pPr>
            <a:r>
              <a:rPr lang="en-US" sz="1300" dirty="0">
                <a:solidFill>
                  <a:srgbClr val="FFFFFF"/>
                </a:solidFill>
              </a:rPr>
              <a:t>traficul: drumurile OSM × profilul orar al Iașului (date TomTom doar cu cheie API)</a:t>
            </a:r>
            <a:endParaRPr lang="en-US" sz="1300" dirty="0"/>
          </a:p>
        </p:txBody>
      </p:sp>
      <p:sp>
        <p:nvSpPr>
          <p:cNvPr id="26" name="Text 1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4 / 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 — DEMO</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Demo: de la Gară la Copou, pe bicicletă</a:t>
            </a:r>
            <a:endParaRPr lang="en-US" sz="3400" dirty="0"/>
          </a:p>
        </p:txBody>
      </p:sp>
      <p:sp>
        <p:nvSpPr>
          <p:cNvPr id="4" name="Shape 2"/>
          <p:cNvSpPr/>
          <p:nvPr/>
        </p:nvSpPr>
        <p:spPr>
          <a:xfrm>
            <a:off x="548640" y="1709928"/>
            <a:ext cx="5998464" cy="4535424"/>
          </a:xfrm>
          <a:prstGeom prst="roundRect">
            <a:avLst>
              <a:gd name="adj" fmla="val 2016"/>
            </a:avLst>
          </a:prstGeom>
          <a:solidFill>
            <a:srgbClr val="25404F"/>
          </a:solidFill>
          <a:ln/>
          <a:effectLst>
            <a:outerShdw sx="100000" sy="100000" kx="0" ky="0" algn="bl" rotWithShape="0" blurRad="152400" dist="50800" dir="5400000">
              <a:srgbClr val="000000">
                <a:alpha val="35000"/>
              </a:srgbClr>
            </a:outerShdw>
          </a:effectLst>
        </p:spPr>
      </p:sp>
      <p:pic>
        <p:nvPicPr>
          <p:cNvPr id="5" name="Image 0" descr="Captură din aplicația EcoPulse">    </p:cNvPr>
          <p:cNvPicPr>
            <a:picLocks noChangeAspect="1"/>
          </p:cNvPicPr>
          <p:nvPr/>
        </p:nvPicPr>
        <p:blipFill>
          <a:blip r:embed="rId1"/>
          <a:stretch>
            <a:fillRect/>
          </a:stretch>
        </p:blipFill>
        <p:spPr>
          <a:xfrm>
            <a:off x="621792" y="1783080"/>
            <a:ext cx="5852160" cy="4389120"/>
          </a:xfrm>
          <a:prstGeom prst="rect">
            <a:avLst/>
          </a:prstGeom>
        </p:spPr>
      </p:pic>
      <p:sp>
        <p:nvSpPr>
          <p:cNvPr id="6" name="Shape 3"/>
          <p:cNvSpPr/>
          <p:nvPr/>
        </p:nvSpPr>
        <p:spPr>
          <a:xfrm>
            <a:off x="6949440" y="1783080"/>
            <a:ext cx="502920" cy="502920"/>
          </a:xfrm>
          <a:prstGeom prst="ellipse">
            <a:avLst/>
          </a:prstGeom>
          <a:solidFill>
            <a:srgbClr val="34C38F"/>
          </a:solidFill>
          <a:ln/>
        </p:spPr>
      </p:sp>
      <p:sp>
        <p:nvSpPr>
          <p:cNvPr id="7" name="Text 4"/>
          <p:cNvSpPr txBox="1"/>
          <p:nvPr/>
        </p:nvSpPr>
        <p:spPr>
          <a:xfrm>
            <a:off x="6949440" y="1783080"/>
            <a:ext cx="502920" cy="502920"/>
          </a:xfrm>
          <a:prstGeom prst="rect">
            <a:avLst/>
          </a:prstGeom>
          <a:noFill/>
          <a:ln/>
        </p:spPr>
        <p:txBody>
          <a:bodyPr wrap="square" lIns="0" tIns="0" rIns="0" bIns="0" rtlCol="0" anchor="ctr"/>
          <a:lstStyle/>
          <a:p>
            <a:pPr algn="ctr" indent="0" marL="0">
              <a:buNone/>
            </a:pPr>
            <a:r>
              <a:rPr lang="en-US" sz="1800" b="1" dirty="0">
                <a:solidFill>
                  <a:srgbClr val="0E1A22"/>
                </a:solidFill>
              </a:rPr>
              <a:t>1</a:t>
            </a:r>
            <a:endParaRPr lang="en-US" sz="1800" dirty="0"/>
          </a:p>
        </p:txBody>
      </p:sp>
      <p:sp>
        <p:nvSpPr>
          <p:cNvPr id="8" name="Text 5"/>
          <p:cNvSpPr txBox="1"/>
          <p:nvPr/>
        </p:nvSpPr>
        <p:spPr>
          <a:xfrm>
            <a:off x="7635240" y="1764792"/>
            <a:ext cx="4023360" cy="329184"/>
          </a:xfrm>
          <a:prstGeom prst="rect">
            <a:avLst/>
          </a:prstGeom>
          <a:noFill/>
          <a:ln/>
        </p:spPr>
        <p:txBody>
          <a:bodyPr wrap="square" lIns="0" tIns="0" rIns="0" bIns="0" rtlCol="0" anchor="ctr"/>
          <a:lstStyle/>
          <a:p>
            <a:pPr indent="0" marL="0">
              <a:buNone/>
            </a:pPr>
            <a:r>
              <a:rPr lang="en-US" sz="1800" b="1" dirty="0">
                <a:solidFill>
                  <a:srgbClr val="FFFFFF"/>
                </a:solidFill>
              </a:rPr>
              <a:t>Alegi plecarea și destinația</a:t>
            </a:r>
            <a:endParaRPr lang="en-US" sz="1800" dirty="0"/>
          </a:p>
        </p:txBody>
      </p:sp>
      <p:sp>
        <p:nvSpPr>
          <p:cNvPr id="9" name="Text 6"/>
          <p:cNvSpPr txBox="1"/>
          <p:nvPr/>
        </p:nvSpPr>
        <p:spPr>
          <a:xfrm>
            <a:off x="7635240" y="2112264"/>
            <a:ext cx="4023360" cy="292608"/>
          </a:xfrm>
          <a:prstGeom prst="rect">
            <a:avLst/>
          </a:prstGeom>
          <a:noFill/>
          <a:ln/>
        </p:spPr>
        <p:txBody>
          <a:bodyPr wrap="square" lIns="0" tIns="0" rIns="0" bIns="0" rtlCol="0" anchor="ctr"/>
          <a:lstStyle/>
          <a:p>
            <a:pPr indent="0" marL="0">
              <a:buNone/>
            </a:pPr>
            <a:r>
              <a:rPr lang="en-US" sz="1400" dirty="0">
                <a:solidFill>
                  <a:srgbClr val="D5E1E8"/>
                </a:solidFill>
              </a:rPr>
              <a:t>Gara Iași → Copou, pe bicicletă, «Acum»</a:t>
            </a:r>
            <a:endParaRPr lang="en-US" sz="1400" dirty="0"/>
          </a:p>
        </p:txBody>
      </p:sp>
      <p:sp>
        <p:nvSpPr>
          <p:cNvPr id="10" name="Shape 7"/>
          <p:cNvSpPr/>
          <p:nvPr/>
        </p:nvSpPr>
        <p:spPr>
          <a:xfrm>
            <a:off x="6949440" y="2743200"/>
            <a:ext cx="502920" cy="502920"/>
          </a:xfrm>
          <a:prstGeom prst="ellipse">
            <a:avLst/>
          </a:prstGeom>
          <a:solidFill>
            <a:srgbClr val="34C38F"/>
          </a:solidFill>
          <a:ln/>
        </p:spPr>
      </p:sp>
      <p:sp>
        <p:nvSpPr>
          <p:cNvPr id="11" name="Text 8"/>
          <p:cNvSpPr txBox="1"/>
          <p:nvPr/>
        </p:nvSpPr>
        <p:spPr>
          <a:xfrm>
            <a:off x="6949440" y="2743200"/>
            <a:ext cx="502920" cy="502920"/>
          </a:xfrm>
          <a:prstGeom prst="rect">
            <a:avLst/>
          </a:prstGeom>
          <a:noFill/>
          <a:ln/>
        </p:spPr>
        <p:txBody>
          <a:bodyPr wrap="square" lIns="0" tIns="0" rIns="0" bIns="0" rtlCol="0" anchor="ctr"/>
          <a:lstStyle/>
          <a:p>
            <a:pPr algn="ctr" indent="0" marL="0">
              <a:buNone/>
            </a:pPr>
            <a:r>
              <a:rPr lang="en-US" sz="1800" b="1" dirty="0">
                <a:solidFill>
                  <a:srgbClr val="0E1A22"/>
                </a:solidFill>
              </a:rPr>
              <a:t>2</a:t>
            </a:r>
            <a:endParaRPr lang="en-US" sz="1800" dirty="0"/>
          </a:p>
        </p:txBody>
      </p:sp>
      <p:sp>
        <p:nvSpPr>
          <p:cNvPr id="12" name="Text 9"/>
          <p:cNvSpPr txBox="1"/>
          <p:nvPr/>
        </p:nvSpPr>
        <p:spPr>
          <a:xfrm>
            <a:off x="7635240" y="2724912"/>
            <a:ext cx="4023360" cy="329184"/>
          </a:xfrm>
          <a:prstGeom prst="rect">
            <a:avLst/>
          </a:prstGeom>
          <a:noFill/>
          <a:ln/>
        </p:spPr>
        <p:txBody>
          <a:bodyPr wrap="square" lIns="0" tIns="0" rIns="0" bIns="0" rtlCol="0" anchor="ctr"/>
          <a:lstStyle/>
          <a:p>
            <a:pPr indent="0" marL="0">
              <a:buNone/>
            </a:pPr>
            <a:r>
              <a:rPr lang="en-US" sz="1800" b="1" dirty="0">
                <a:solidFill>
                  <a:srgbClr val="FFFFFF"/>
                </a:solidFill>
              </a:rPr>
              <a:t>EcoPulse calculează 3 trasee</a:t>
            </a:r>
            <a:endParaRPr lang="en-US" sz="1800" dirty="0"/>
          </a:p>
        </p:txBody>
      </p:sp>
      <p:sp>
        <p:nvSpPr>
          <p:cNvPr id="13" name="Text 10"/>
          <p:cNvSpPr txBox="1"/>
          <p:nvPr/>
        </p:nvSpPr>
        <p:spPr>
          <a:xfrm>
            <a:off x="7635240" y="3072384"/>
            <a:ext cx="4023360" cy="292608"/>
          </a:xfrm>
          <a:prstGeom prst="rect">
            <a:avLst/>
          </a:prstGeom>
          <a:noFill/>
          <a:ln/>
        </p:spPr>
        <p:txBody>
          <a:bodyPr wrap="square" lIns="0" tIns="0" rIns="0" bIns="0" rtlCol="0" anchor="ctr"/>
          <a:lstStyle/>
          <a:p>
            <a:pPr indent="0" marL="0">
              <a:buNone/>
            </a:pPr>
            <a:r>
              <a:rPr lang="en-US" sz="1400" dirty="0">
                <a:solidFill>
                  <a:srgbClr val="D5E1E8"/>
                </a:solidFill>
              </a:rPr>
              <a:t>fiecare cu AQI mediu, trafic și obstacole</a:t>
            </a:r>
            <a:endParaRPr lang="en-US" sz="1400" dirty="0"/>
          </a:p>
        </p:txBody>
      </p:sp>
      <p:sp>
        <p:nvSpPr>
          <p:cNvPr id="14" name="Shape 11"/>
          <p:cNvSpPr/>
          <p:nvPr/>
        </p:nvSpPr>
        <p:spPr>
          <a:xfrm>
            <a:off x="6949440" y="3703320"/>
            <a:ext cx="502920" cy="502920"/>
          </a:xfrm>
          <a:prstGeom prst="ellipse">
            <a:avLst/>
          </a:prstGeom>
          <a:solidFill>
            <a:srgbClr val="34C38F"/>
          </a:solidFill>
          <a:ln/>
        </p:spPr>
      </p:sp>
      <p:sp>
        <p:nvSpPr>
          <p:cNvPr id="15" name="Text 12"/>
          <p:cNvSpPr txBox="1"/>
          <p:nvPr/>
        </p:nvSpPr>
        <p:spPr>
          <a:xfrm>
            <a:off x="6949440" y="3703320"/>
            <a:ext cx="502920" cy="502920"/>
          </a:xfrm>
          <a:prstGeom prst="rect">
            <a:avLst/>
          </a:prstGeom>
          <a:noFill/>
          <a:ln/>
        </p:spPr>
        <p:txBody>
          <a:bodyPr wrap="square" lIns="0" tIns="0" rIns="0" bIns="0" rtlCol="0" anchor="ctr"/>
          <a:lstStyle/>
          <a:p>
            <a:pPr algn="ctr" indent="0" marL="0">
              <a:buNone/>
            </a:pPr>
            <a:r>
              <a:rPr lang="en-US" sz="1800" b="1" dirty="0">
                <a:solidFill>
                  <a:srgbClr val="0E1A22"/>
                </a:solidFill>
              </a:rPr>
              <a:t>3</a:t>
            </a:r>
            <a:endParaRPr lang="en-US" sz="1800" dirty="0"/>
          </a:p>
        </p:txBody>
      </p:sp>
      <p:sp>
        <p:nvSpPr>
          <p:cNvPr id="16" name="Text 13"/>
          <p:cNvSpPr txBox="1"/>
          <p:nvPr/>
        </p:nvSpPr>
        <p:spPr>
          <a:xfrm>
            <a:off x="7635240" y="3685032"/>
            <a:ext cx="4023360" cy="329184"/>
          </a:xfrm>
          <a:prstGeom prst="rect">
            <a:avLst/>
          </a:prstGeom>
          <a:noFill/>
          <a:ln/>
        </p:spPr>
        <p:txBody>
          <a:bodyPr wrap="square" lIns="0" tIns="0" rIns="0" bIns="0" rtlCol="0" anchor="ctr"/>
          <a:lstStyle/>
          <a:p>
            <a:pPr indent="0" marL="0">
              <a:buNone/>
            </a:pPr>
            <a:r>
              <a:rPr lang="en-US" sz="1800" b="1" dirty="0">
                <a:solidFill>
                  <a:srgbClr val="FFFFFF"/>
                </a:solidFill>
              </a:rPr>
              <a:t>Alegi «Cel mai curat»</a:t>
            </a:r>
            <a:endParaRPr lang="en-US" sz="1800" dirty="0"/>
          </a:p>
        </p:txBody>
      </p:sp>
      <p:sp>
        <p:nvSpPr>
          <p:cNvPr id="17" name="Text 14"/>
          <p:cNvSpPr txBox="1"/>
          <p:nvPr/>
        </p:nvSpPr>
        <p:spPr>
          <a:xfrm>
            <a:off x="7635240" y="4032504"/>
            <a:ext cx="4023360" cy="292608"/>
          </a:xfrm>
          <a:prstGeom prst="rect">
            <a:avLst/>
          </a:prstGeom>
          <a:noFill/>
          <a:ln/>
        </p:spPr>
        <p:txBody>
          <a:bodyPr wrap="square" lIns="0" tIns="0" rIns="0" bIns="0" rtlCol="0" anchor="ctr"/>
          <a:lstStyle/>
          <a:p>
            <a:pPr indent="0" marL="0">
              <a:buNone/>
            </a:pPr>
            <a:r>
              <a:rPr lang="en-US" sz="1400" dirty="0">
                <a:solidFill>
                  <a:srgbClr val="D5E1E8"/>
                </a:solidFill>
              </a:rPr>
              <a:t>și îl deschizi în Google Maps</a:t>
            </a:r>
            <a:endParaRPr lang="en-US" sz="1400" dirty="0"/>
          </a:p>
        </p:txBody>
      </p:sp>
      <p:sp>
        <p:nvSpPr>
          <p:cNvPr id="18" name="Text 15"/>
          <p:cNvSpPr txBox="1"/>
          <p:nvPr/>
        </p:nvSpPr>
        <p:spPr>
          <a:xfrm>
            <a:off x="6949440" y="4754880"/>
            <a:ext cx="18288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DATE</a:t>
            </a:r>
            <a:endParaRPr lang="en-US" sz="1100" dirty="0"/>
          </a:p>
        </p:txBody>
      </p:sp>
      <p:sp>
        <p:nvSpPr>
          <p:cNvPr id="19" name="Text 16"/>
          <p:cNvSpPr txBox="1"/>
          <p:nvPr/>
        </p:nvSpPr>
        <p:spPr>
          <a:xfrm>
            <a:off x="7818120" y="4681728"/>
            <a:ext cx="3822192" cy="384048"/>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300" dirty="0">
                <a:solidFill>
                  <a:srgbClr val="EF6B55"/>
                </a:solidFill>
                <a:latin typeface="Consolas" pitchFamily="34" charset="0"/>
                <a:ea typeface="Consolas" pitchFamily="34" charset="-122"/>
                <a:cs typeface="Consolas" pitchFamily="34" charset="-120"/>
              </a:rPr>
              <a:t>[REALE SAU SIMULATE — DE STABILIT]</a:t>
            </a:r>
            <a:endParaRPr lang="en-US" sz="1300" dirty="0"/>
          </a:p>
        </p:txBody>
      </p:sp>
      <p:sp>
        <p:nvSpPr>
          <p:cNvPr id="20" name="Text 17"/>
          <p:cNvSpPr txBox="1"/>
          <p:nvPr/>
        </p:nvSpPr>
        <p:spPr>
          <a:xfrm>
            <a:off x="6949440" y="5349240"/>
            <a:ext cx="18288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PLAN B</a:t>
            </a:r>
            <a:endParaRPr lang="en-US" sz="1100" dirty="0"/>
          </a:p>
        </p:txBody>
      </p:sp>
      <p:sp>
        <p:nvSpPr>
          <p:cNvPr id="21" name="Text 18"/>
          <p:cNvSpPr txBox="1"/>
          <p:nvPr/>
        </p:nvSpPr>
        <p:spPr>
          <a:xfrm>
            <a:off x="7818120" y="5276088"/>
            <a:ext cx="3822192" cy="384048"/>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300" dirty="0">
                <a:solidFill>
                  <a:srgbClr val="EF6B55"/>
                </a:solidFill>
                <a:latin typeface="Consolas" pitchFamily="34" charset="0"/>
                <a:ea typeface="Consolas" pitchFamily="34" charset="-122"/>
                <a:cs typeface="Consolas" pitchFamily="34" charset="-120"/>
              </a:rPr>
              <a:t>[LINK CĂTRE ÎNREGISTRAREA DEMO-ULUI]</a:t>
            </a:r>
            <a:endParaRPr lang="en-US" sz="1300" dirty="0"/>
          </a:p>
        </p:txBody>
      </p:sp>
      <p:sp>
        <p:nvSpPr>
          <p:cNvPr id="22" name="Text 1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5 / 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B — CUM E CONSTRUIT</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Date publice, un scor de expunere, o hartă</a:t>
            </a:r>
            <a:endParaRPr lang="en-US" sz="3400" dirty="0"/>
          </a:p>
        </p:txBody>
      </p:sp>
      <p:sp>
        <p:nvSpPr>
          <p:cNvPr id="4" name="Shape 2"/>
          <p:cNvSpPr/>
          <p:nvPr/>
        </p:nvSpPr>
        <p:spPr>
          <a:xfrm>
            <a:off x="548640" y="1737360"/>
            <a:ext cx="2514600" cy="2148840"/>
          </a:xfrm>
          <a:prstGeom prst="roundRect">
            <a:avLst>
              <a:gd name="adj" fmla="val 5106"/>
            </a:avLst>
          </a:prstGeom>
          <a:solidFill>
            <a:srgbClr val="1E3240"/>
          </a:solidFill>
          <a:ln/>
        </p:spPr>
      </p:sp>
      <p:sp>
        <p:nvSpPr>
          <p:cNvPr id="5" name="Shape 3"/>
          <p:cNvSpPr/>
          <p:nvPr/>
        </p:nvSpPr>
        <p:spPr>
          <a:xfrm>
            <a:off x="749808" y="1920240"/>
            <a:ext cx="502920" cy="502920"/>
          </a:xfrm>
          <a:prstGeom prst="ellipse">
            <a:avLst/>
          </a:prstGeom>
          <a:solidFill>
            <a:srgbClr val="25404F"/>
          </a:solidFill>
          <a:ln/>
        </p:spPr>
      </p:sp>
      <p:pic>
        <p:nvPicPr>
          <p:cNvPr id="6" name="Image 0" descr="preencoded.png">    </p:cNvPr>
          <p:cNvPicPr>
            <a:picLocks noChangeAspect="1"/>
          </p:cNvPicPr>
          <p:nvPr/>
        </p:nvPicPr>
        <p:blipFill>
          <a:blip r:embed="rId1"/>
          <a:stretch>
            <a:fillRect/>
          </a:stretch>
        </p:blipFill>
        <p:spPr>
          <a:xfrm>
            <a:off x="860450" y="2030882"/>
            <a:ext cx="281635" cy="281635"/>
          </a:xfrm>
          <a:prstGeom prst="rect">
            <a:avLst/>
          </a:prstGeom>
        </p:spPr>
      </p:pic>
      <p:sp>
        <p:nvSpPr>
          <p:cNvPr id="7" name="Text 4"/>
          <p:cNvSpPr txBox="1"/>
          <p:nvPr/>
        </p:nvSpPr>
        <p:spPr>
          <a:xfrm>
            <a:off x="749808" y="2542032"/>
            <a:ext cx="214884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SURSELE DE DATE</a:t>
            </a:r>
            <a:endParaRPr lang="en-US" sz="1100" dirty="0"/>
          </a:p>
        </p:txBody>
      </p:sp>
      <p:sp>
        <p:nvSpPr>
          <p:cNvPr id="8" name="Text 5"/>
          <p:cNvSpPr txBox="1"/>
          <p:nvPr/>
        </p:nvSpPr>
        <p:spPr>
          <a:xfrm>
            <a:off x="749808" y="2834640"/>
            <a:ext cx="2130552" cy="960120"/>
          </a:xfrm>
          <a:prstGeom prst="rect">
            <a:avLst/>
          </a:prstGeom>
          <a:noFill/>
          <a:ln/>
        </p:spPr>
        <p:txBody>
          <a:bodyPr wrap="square" lIns="0" tIns="0" rIns="0" bIns="0" rtlCol="0" anchor="t"/>
          <a:lstStyle/>
          <a:p>
            <a:pPr indent="0" marL="0">
              <a:buNone/>
            </a:pPr>
            <a:r>
              <a:rPr lang="en-US" sz="1300" dirty="0">
                <a:solidFill>
                  <a:srgbClr val="FFFFFF"/>
                </a:solidFill>
              </a:rPr>
              <a:t>Sensor.Community, OpenAQ, CAMS, Open-Meteo, OpenStreetMap, Poliția Locală Iași</a:t>
            </a:r>
            <a:endParaRPr lang="en-US" sz="1300" dirty="0"/>
          </a:p>
        </p:txBody>
      </p:sp>
      <p:pic>
        <p:nvPicPr>
          <p:cNvPr id="9" name="Image 1" descr="preencoded.png">    </p:cNvPr>
          <p:cNvPicPr>
            <a:picLocks noChangeAspect="1"/>
          </p:cNvPicPr>
          <p:nvPr/>
        </p:nvPicPr>
        <p:blipFill>
          <a:blip r:embed="rId2"/>
          <a:stretch>
            <a:fillRect/>
          </a:stretch>
        </p:blipFill>
        <p:spPr>
          <a:xfrm>
            <a:off x="3108960" y="2697480"/>
            <a:ext cx="246888" cy="246888"/>
          </a:xfrm>
          <a:prstGeom prst="rect">
            <a:avLst/>
          </a:prstGeom>
        </p:spPr>
      </p:pic>
      <p:sp>
        <p:nvSpPr>
          <p:cNvPr id="10" name="Shape 6"/>
          <p:cNvSpPr/>
          <p:nvPr/>
        </p:nvSpPr>
        <p:spPr>
          <a:xfrm>
            <a:off x="3401568" y="1737360"/>
            <a:ext cx="2514600" cy="2148840"/>
          </a:xfrm>
          <a:prstGeom prst="roundRect">
            <a:avLst>
              <a:gd name="adj" fmla="val 5106"/>
            </a:avLst>
          </a:prstGeom>
          <a:solidFill>
            <a:srgbClr val="1E3240"/>
          </a:solidFill>
          <a:ln/>
        </p:spPr>
      </p:sp>
      <p:sp>
        <p:nvSpPr>
          <p:cNvPr id="11" name="Shape 7"/>
          <p:cNvSpPr/>
          <p:nvPr/>
        </p:nvSpPr>
        <p:spPr>
          <a:xfrm>
            <a:off x="3602736" y="1920240"/>
            <a:ext cx="502920" cy="502920"/>
          </a:xfrm>
          <a:prstGeom prst="ellipse">
            <a:avLst/>
          </a:prstGeom>
          <a:solidFill>
            <a:srgbClr val="25404F"/>
          </a:solidFill>
          <a:ln/>
        </p:spPr>
      </p:sp>
      <p:pic>
        <p:nvPicPr>
          <p:cNvPr id="12" name="Image 2" descr="preencoded.png">    </p:cNvPr>
          <p:cNvPicPr>
            <a:picLocks noChangeAspect="1"/>
          </p:cNvPicPr>
          <p:nvPr/>
        </p:nvPicPr>
        <p:blipFill>
          <a:blip r:embed="rId3"/>
          <a:stretch>
            <a:fillRect/>
          </a:stretch>
        </p:blipFill>
        <p:spPr>
          <a:xfrm>
            <a:off x="3713378" y="2030882"/>
            <a:ext cx="281635" cy="281635"/>
          </a:xfrm>
          <a:prstGeom prst="rect">
            <a:avLst/>
          </a:prstGeom>
        </p:spPr>
      </p:pic>
      <p:sp>
        <p:nvSpPr>
          <p:cNvPr id="13" name="Text 8"/>
          <p:cNvSpPr txBox="1"/>
          <p:nvPr/>
        </p:nvSpPr>
        <p:spPr>
          <a:xfrm>
            <a:off x="3602736" y="2542032"/>
            <a:ext cx="214884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BACKEND</a:t>
            </a:r>
            <a:endParaRPr lang="en-US" sz="1100" dirty="0"/>
          </a:p>
        </p:txBody>
      </p:sp>
      <p:sp>
        <p:nvSpPr>
          <p:cNvPr id="14" name="Text 9"/>
          <p:cNvSpPr txBox="1"/>
          <p:nvPr/>
        </p:nvSpPr>
        <p:spPr>
          <a:xfrm>
            <a:off x="3602736" y="2834640"/>
            <a:ext cx="2130552" cy="960120"/>
          </a:xfrm>
          <a:prstGeom prst="rect">
            <a:avLst/>
          </a:prstGeom>
          <a:noFill/>
          <a:ln/>
        </p:spPr>
        <p:txBody>
          <a:bodyPr wrap="square" lIns="0" tIns="0" rIns="0" bIns="0" rtlCol="0" anchor="t"/>
          <a:lstStyle/>
          <a:p>
            <a:pPr indent="0" marL="0">
              <a:buNone/>
            </a:pPr>
            <a:r>
              <a:rPr lang="en-US" sz="1300" dirty="0">
                <a:solidFill>
                  <a:srgbClr val="FFFFFF"/>
                </a:solidFill>
              </a:rPr>
              <a:t>FastAPI + worker care sincronizează sursele periodic</a:t>
            </a:r>
            <a:endParaRPr lang="en-US" sz="1300" dirty="0"/>
          </a:p>
        </p:txBody>
      </p:sp>
      <p:pic>
        <p:nvPicPr>
          <p:cNvPr id="15" name="Image 3" descr="preencoded.png">    </p:cNvPr>
          <p:cNvPicPr>
            <a:picLocks noChangeAspect="1"/>
          </p:cNvPicPr>
          <p:nvPr/>
        </p:nvPicPr>
        <p:blipFill>
          <a:blip r:embed="rId4"/>
          <a:stretch>
            <a:fillRect/>
          </a:stretch>
        </p:blipFill>
        <p:spPr>
          <a:xfrm>
            <a:off x="5961888" y="2697480"/>
            <a:ext cx="246888" cy="246888"/>
          </a:xfrm>
          <a:prstGeom prst="rect">
            <a:avLst/>
          </a:prstGeom>
        </p:spPr>
      </p:pic>
      <p:sp>
        <p:nvSpPr>
          <p:cNvPr id="16" name="Shape 10"/>
          <p:cNvSpPr/>
          <p:nvPr/>
        </p:nvSpPr>
        <p:spPr>
          <a:xfrm>
            <a:off x="6254496" y="1737360"/>
            <a:ext cx="2514600" cy="2148840"/>
          </a:xfrm>
          <a:prstGeom prst="roundRect">
            <a:avLst>
              <a:gd name="adj" fmla="val 5106"/>
            </a:avLst>
          </a:prstGeom>
          <a:solidFill>
            <a:srgbClr val="1E3240"/>
          </a:solidFill>
          <a:ln/>
        </p:spPr>
      </p:sp>
      <p:sp>
        <p:nvSpPr>
          <p:cNvPr id="17" name="Shape 11"/>
          <p:cNvSpPr/>
          <p:nvPr/>
        </p:nvSpPr>
        <p:spPr>
          <a:xfrm>
            <a:off x="6455664" y="1920240"/>
            <a:ext cx="502920" cy="502920"/>
          </a:xfrm>
          <a:prstGeom prst="ellipse">
            <a:avLst/>
          </a:prstGeom>
          <a:solidFill>
            <a:srgbClr val="25404F"/>
          </a:solidFill>
          <a:ln/>
        </p:spPr>
      </p:sp>
      <p:pic>
        <p:nvPicPr>
          <p:cNvPr id="18" name="Image 4" descr="preencoded.png">    </p:cNvPr>
          <p:cNvPicPr>
            <a:picLocks noChangeAspect="1"/>
          </p:cNvPicPr>
          <p:nvPr/>
        </p:nvPicPr>
        <p:blipFill>
          <a:blip r:embed="rId5"/>
          <a:stretch>
            <a:fillRect/>
          </a:stretch>
        </p:blipFill>
        <p:spPr>
          <a:xfrm>
            <a:off x="6566306" y="2030882"/>
            <a:ext cx="281635" cy="281635"/>
          </a:xfrm>
          <a:prstGeom prst="rect">
            <a:avLst/>
          </a:prstGeom>
        </p:spPr>
      </p:pic>
      <p:sp>
        <p:nvSpPr>
          <p:cNvPr id="19" name="Text 12"/>
          <p:cNvSpPr txBox="1"/>
          <p:nvPr/>
        </p:nvSpPr>
        <p:spPr>
          <a:xfrm>
            <a:off x="6455664" y="2542032"/>
            <a:ext cx="214884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SCOR + AI</a:t>
            </a:r>
            <a:endParaRPr lang="en-US" sz="1100" dirty="0"/>
          </a:p>
        </p:txBody>
      </p:sp>
      <p:sp>
        <p:nvSpPr>
          <p:cNvPr id="20" name="Text 13"/>
          <p:cNvSpPr txBox="1"/>
          <p:nvPr/>
        </p:nvSpPr>
        <p:spPr>
          <a:xfrm>
            <a:off x="6455664" y="2834640"/>
            <a:ext cx="2130552" cy="960120"/>
          </a:xfrm>
          <a:prstGeom prst="rect">
            <a:avLst/>
          </a:prstGeom>
          <a:noFill/>
          <a:ln/>
        </p:spPr>
        <p:txBody>
          <a:bodyPr wrap="square" lIns="0" tIns="0" rIns="0" bIns="0" rtlCol="0" anchor="t"/>
          <a:lstStyle/>
          <a:p>
            <a:pPr indent="0" marL="0">
              <a:buNone/>
            </a:pPr>
            <a:r>
              <a:rPr lang="en-US" sz="1300" dirty="0">
                <a:solidFill>
                  <a:srgbClr val="FFFFFF"/>
                </a:solidFill>
              </a:rPr>
              <a:t>Expunerea pe traseu (interpolare între senzori). LLM-ul transformă textul liber în raportare</a:t>
            </a:r>
            <a:endParaRPr lang="en-US" sz="1300" dirty="0"/>
          </a:p>
        </p:txBody>
      </p:sp>
      <p:pic>
        <p:nvPicPr>
          <p:cNvPr id="21" name="Image 5" descr="preencoded.png">    </p:cNvPr>
          <p:cNvPicPr>
            <a:picLocks noChangeAspect="1"/>
          </p:cNvPicPr>
          <p:nvPr/>
        </p:nvPicPr>
        <p:blipFill>
          <a:blip r:embed="rId6"/>
          <a:stretch>
            <a:fillRect/>
          </a:stretch>
        </p:blipFill>
        <p:spPr>
          <a:xfrm>
            <a:off x="8814816" y="2697480"/>
            <a:ext cx="246888" cy="246888"/>
          </a:xfrm>
          <a:prstGeom prst="rect">
            <a:avLst/>
          </a:prstGeom>
        </p:spPr>
      </p:pic>
      <p:sp>
        <p:nvSpPr>
          <p:cNvPr id="22" name="Shape 14"/>
          <p:cNvSpPr/>
          <p:nvPr/>
        </p:nvSpPr>
        <p:spPr>
          <a:xfrm>
            <a:off x="9107424" y="1737360"/>
            <a:ext cx="2514600" cy="2148840"/>
          </a:xfrm>
          <a:prstGeom prst="roundRect">
            <a:avLst>
              <a:gd name="adj" fmla="val 5106"/>
            </a:avLst>
          </a:prstGeom>
          <a:solidFill>
            <a:srgbClr val="1E3240"/>
          </a:solidFill>
          <a:ln/>
        </p:spPr>
      </p:sp>
      <p:sp>
        <p:nvSpPr>
          <p:cNvPr id="23" name="Shape 15"/>
          <p:cNvSpPr/>
          <p:nvPr/>
        </p:nvSpPr>
        <p:spPr>
          <a:xfrm>
            <a:off x="9308592" y="1920240"/>
            <a:ext cx="502920" cy="502920"/>
          </a:xfrm>
          <a:prstGeom prst="ellipse">
            <a:avLst/>
          </a:prstGeom>
          <a:solidFill>
            <a:srgbClr val="25404F"/>
          </a:solidFill>
          <a:ln/>
        </p:spPr>
      </p:sp>
      <p:pic>
        <p:nvPicPr>
          <p:cNvPr id="24" name="Image 6" descr="preencoded.png">    </p:cNvPr>
          <p:cNvPicPr>
            <a:picLocks noChangeAspect="1"/>
          </p:cNvPicPr>
          <p:nvPr/>
        </p:nvPicPr>
        <p:blipFill>
          <a:blip r:embed="rId7"/>
          <a:stretch>
            <a:fillRect/>
          </a:stretch>
        </p:blipFill>
        <p:spPr>
          <a:xfrm>
            <a:off x="9419234" y="2030882"/>
            <a:ext cx="281635" cy="281635"/>
          </a:xfrm>
          <a:prstGeom prst="rect">
            <a:avLst/>
          </a:prstGeom>
        </p:spPr>
      </p:pic>
      <p:sp>
        <p:nvSpPr>
          <p:cNvPr id="25" name="Text 16"/>
          <p:cNvSpPr txBox="1"/>
          <p:nvPr/>
        </p:nvSpPr>
        <p:spPr>
          <a:xfrm>
            <a:off x="9308592" y="2542032"/>
            <a:ext cx="214884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CE VEDE OMUL</a:t>
            </a:r>
            <a:endParaRPr lang="en-US" sz="1100" dirty="0"/>
          </a:p>
        </p:txBody>
      </p:sp>
      <p:sp>
        <p:nvSpPr>
          <p:cNvPr id="26" name="Text 17"/>
          <p:cNvSpPr txBox="1"/>
          <p:nvPr/>
        </p:nvSpPr>
        <p:spPr>
          <a:xfrm>
            <a:off x="9308592" y="2834640"/>
            <a:ext cx="2130552" cy="960120"/>
          </a:xfrm>
          <a:prstGeom prst="rect">
            <a:avLst/>
          </a:prstGeom>
          <a:noFill/>
          <a:ln/>
        </p:spPr>
        <p:txBody>
          <a:bodyPr wrap="square" lIns="0" tIns="0" rIns="0" bIns="0" rtlCol="0" anchor="t"/>
          <a:lstStyle/>
          <a:p>
            <a:pPr indent="0" marL="0">
              <a:buNone/>
            </a:pPr>
            <a:r>
              <a:rPr lang="en-US" sz="1300" dirty="0">
                <a:solidFill>
                  <a:srgbClr val="FFFFFF"/>
                </a:solidFill>
              </a:rPr>
              <a:t>Harta cu 3 trasee și chat-ul de raportare, cu text sau voce</a:t>
            </a:r>
            <a:endParaRPr lang="en-US" sz="1300" dirty="0"/>
          </a:p>
        </p:txBody>
      </p:sp>
      <p:sp>
        <p:nvSpPr>
          <p:cNvPr id="27" name="Text 18"/>
          <p:cNvSpPr txBox="1"/>
          <p:nvPr/>
        </p:nvSpPr>
        <p:spPr>
          <a:xfrm>
            <a:off x="548640" y="4069080"/>
            <a:ext cx="11064240" cy="365760"/>
          </a:xfrm>
          <a:prstGeom prst="rect">
            <a:avLst/>
          </a:prstGeom>
          <a:noFill/>
          <a:ln/>
        </p:spPr>
        <p:txBody>
          <a:bodyPr wrap="square" lIns="0" tIns="0" rIns="0" bIns="0" rtlCol="0" anchor="ctr"/>
          <a:lstStyle/>
          <a:p>
            <a:pPr indent="0" marL="0">
              <a:buNone/>
            </a:pPr>
            <a:r>
              <a:rPr lang="en-US" sz="1500" b="1" dirty="0">
                <a:solidFill>
                  <a:srgbClr val="FFFFFF"/>
                </a:solidFill>
              </a:rPr>
              <a:t>Stack:  </a:t>
            </a:r>
            <a:pPr indent="0" marL="0">
              <a:buNone/>
            </a:pPr>
            <a:r>
              <a:rPr lang="en-US" sz="1500" dirty="0">
                <a:solidFill>
                  <a:srgbClr val="D5E1E8"/>
                </a:solidFill>
              </a:rPr>
              <a:t>Python FastAPI  ·  SQLite / PostGIS  ·  React + TypeScript  ·  Leaflet + OSRM</a:t>
            </a:r>
            <a:endParaRPr lang="en-US" sz="1500" dirty="0"/>
          </a:p>
        </p:txBody>
      </p:sp>
      <p:sp>
        <p:nvSpPr>
          <p:cNvPr id="28" name="Shape 19"/>
          <p:cNvSpPr/>
          <p:nvPr/>
        </p:nvSpPr>
        <p:spPr>
          <a:xfrm>
            <a:off x="548640" y="4617720"/>
            <a:ext cx="5394960" cy="1188720"/>
          </a:xfrm>
          <a:prstGeom prst="roundRect">
            <a:avLst>
              <a:gd name="adj" fmla="val 9231"/>
            </a:avLst>
          </a:prstGeom>
          <a:solidFill>
            <a:srgbClr val="1E3240"/>
          </a:solidFill>
          <a:ln/>
        </p:spPr>
      </p:sp>
      <p:sp>
        <p:nvSpPr>
          <p:cNvPr id="29" name="Text 20"/>
          <p:cNvSpPr txBox="1"/>
          <p:nvPr/>
        </p:nvSpPr>
        <p:spPr>
          <a:xfrm>
            <a:off x="777240" y="4800600"/>
            <a:ext cx="36576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AI-UL A GENERAT</a:t>
            </a:r>
            <a:endParaRPr lang="en-US" sz="1100" dirty="0"/>
          </a:p>
        </p:txBody>
      </p:sp>
      <p:sp>
        <p:nvSpPr>
          <p:cNvPr id="30" name="Text 21"/>
          <p:cNvSpPr txBox="1"/>
          <p:nvPr/>
        </p:nvSpPr>
        <p:spPr>
          <a:xfrm>
            <a:off x="777240" y="5120640"/>
            <a:ext cx="4937760" cy="868680"/>
          </a:xfrm>
          <a:prstGeom prst="rect">
            <a:avLst/>
          </a:prstGeom>
          <a:noFill/>
          <a:ln/>
        </p:spPr>
        <p:txBody>
          <a:bodyPr wrap="square" lIns="0" tIns="0" rIns="0" bIns="0" rtlCol="0" anchor="t"/>
          <a:lstStyle/>
          <a:p>
            <a:pPr indent="0" marL="0">
              <a:buNone/>
            </a:pPr>
            <a:r>
              <a:rPr lang="en-US" sz="1500" dirty="0">
                <a:solidFill>
                  <a:srgbClr val="FFFFFF"/>
                </a:solidFill>
              </a:rPr>
              <a:t>Codul aplicației: backend-ul, frontend-ul și testele.</a:t>
            </a:r>
            <a:endParaRPr lang="en-US" sz="1500" dirty="0"/>
          </a:p>
        </p:txBody>
      </p:sp>
      <p:sp>
        <p:nvSpPr>
          <p:cNvPr id="31" name="Shape 22"/>
          <p:cNvSpPr/>
          <p:nvPr/>
        </p:nvSpPr>
        <p:spPr>
          <a:xfrm>
            <a:off x="6245352" y="4617720"/>
            <a:ext cx="5394960" cy="1188720"/>
          </a:xfrm>
          <a:prstGeom prst="roundRect">
            <a:avLst>
              <a:gd name="adj" fmla="val 9231"/>
            </a:avLst>
          </a:prstGeom>
          <a:solidFill>
            <a:srgbClr val="1C3A33"/>
          </a:solidFill>
          <a:ln/>
        </p:spPr>
      </p:sp>
      <p:sp>
        <p:nvSpPr>
          <p:cNvPr id="32" name="Text 23"/>
          <p:cNvSpPr txBox="1"/>
          <p:nvPr/>
        </p:nvSpPr>
        <p:spPr>
          <a:xfrm>
            <a:off x="6473952" y="4800600"/>
            <a:ext cx="36576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NOI AM DECIS</a:t>
            </a:r>
            <a:endParaRPr lang="en-US" sz="1100" dirty="0"/>
          </a:p>
        </p:txBody>
      </p:sp>
      <p:sp>
        <p:nvSpPr>
          <p:cNvPr id="33" name="Text 24"/>
          <p:cNvSpPr txBox="1"/>
          <p:nvPr/>
        </p:nvSpPr>
        <p:spPr>
          <a:xfrm>
            <a:off x="6473952" y="5120640"/>
            <a:ext cx="4937760" cy="868680"/>
          </a:xfrm>
          <a:prstGeom prst="rect">
            <a:avLst/>
          </a:prstGeom>
          <a:noFill/>
          <a:ln/>
        </p:spPr>
        <p:txBody>
          <a:bodyPr wrap="square" lIns="0" tIns="0" rIns="0" bIns="0" rtlCol="0" anchor="t"/>
          <a:lstStyle/>
          <a:p>
            <a:pPr indent="0" marL="0">
              <a:buNone/>
            </a:pPr>
            <a:r>
              <a:rPr lang="en-US" sz="1500" dirty="0">
                <a:solidFill>
                  <a:srgbClr val="FFFFFF"/>
                </a:solidFill>
              </a:rPr>
              <a:t>Ideea, legăturile dintre API-uri și design și cum trebuie să arate produsul final.</a:t>
            </a:r>
            <a:endParaRPr lang="en-US" sz="1500" dirty="0"/>
          </a:p>
        </p:txBody>
      </p:sp>
      <p:sp>
        <p:nvSpPr>
          <p:cNvPr id="34" name="Text 25"/>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6 / 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BUSINESS — CINE PLĂTEȘTE</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Cetățeanul folosește gratis. Primăria plătește</a:t>
            </a:r>
            <a:endParaRPr lang="en-US" sz="3400" dirty="0"/>
          </a:p>
        </p:txBody>
      </p:sp>
      <p:sp>
        <p:nvSpPr>
          <p:cNvPr id="4" name="Shape 2"/>
          <p:cNvSpPr/>
          <p:nvPr/>
        </p:nvSpPr>
        <p:spPr>
          <a:xfrm>
            <a:off x="548640" y="1737360"/>
            <a:ext cx="3502152" cy="2514600"/>
          </a:xfrm>
          <a:prstGeom prst="roundRect">
            <a:avLst>
              <a:gd name="adj" fmla="val 4364"/>
            </a:avLst>
          </a:prstGeom>
          <a:solidFill>
            <a:srgbClr val="1E3240"/>
          </a:solidFill>
          <a:ln/>
        </p:spPr>
      </p:sp>
      <p:sp>
        <p:nvSpPr>
          <p:cNvPr id="5" name="Shape 3"/>
          <p:cNvSpPr/>
          <p:nvPr/>
        </p:nvSpPr>
        <p:spPr>
          <a:xfrm>
            <a:off x="777240" y="1938528"/>
            <a:ext cx="502920" cy="502920"/>
          </a:xfrm>
          <a:prstGeom prst="ellipse">
            <a:avLst/>
          </a:prstGeom>
          <a:solidFill>
            <a:srgbClr val="25404F"/>
          </a:solidFill>
          <a:ln/>
        </p:spPr>
      </p:sp>
      <p:pic>
        <p:nvPicPr>
          <p:cNvPr id="6" name="Image 0" descr="preencoded.png">    </p:cNvPr>
          <p:cNvPicPr>
            <a:picLocks noChangeAspect="1"/>
          </p:cNvPicPr>
          <p:nvPr/>
        </p:nvPicPr>
        <p:blipFill>
          <a:blip r:embed="rId1"/>
          <a:stretch>
            <a:fillRect/>
          </a:stretch>
        </p:blipFill>
        <p:spPr>
          <a:xfrm>
            <a:off x="887882" y="2049170"/>
            <a:ext cx="281635" cy="281635"/>
          </a:xfrm>
          <a:prstGeom prst="rect">
            <a:avLst/>
          </a:prstGeom>
        </p:spPr>
      </p:pic>
      <p:sp>
        <p:nvSpPr>
          <p:cNvPr id="7" name="Text 4"/>
          <p:cNvSpPr txBox="1"/>
          <p:nvPr/>
        </p:nvSpPr>
        <p:spPr>
          <a:xfrm>
            <a:off x="1417320" y="2066544"/>
            <a:ext cx="2496312" cy="256032"/>
          </a:xfrm>
          <a:prstGeom prst="rect">
            <a:avLst/>
          </a:prstGeom>
          <a:noFill/>
          <a:ln/>
        </p:spPr>
        <p:txBody>
          <a:bodyPr wrap="square" lIns="0" tIns="0" rIns="0" bIns="0" rtlCol="0" anchor="ctr"/>
          <a:lstStyle/>
          <a:p>
            <a:pPr indent="0" marL="0">
              <a:buNone/>
            </a:pPr>
            <a:r>
              <a:rPr lang="en-US" sz="1100" b="1" spc="200" kern="0" dirty="0">
                <a:solidFill>
                  <a:srgbClr val="34C38F"/>
                </a:solidFill>
              </a:rPr>
              <a:t>CINE PLĂTEȘTE</a:t>
            </a:r>
            <a:endParaRPr lang="en-US" sz="1100" dirty="0"/>
          </a:p>
        </p:txBody>
      </p:sp>
      <p:sp>
        <p:nvSpPr>
          <p:cNvPr id="8" name="Text 5"/>
          <p:cNvSpPr txBox="1"/>
          <p:nvPr/>
        </p:nvSpPr>
        <p:spPr>
          <a:xfrm>
            <a:off x="777240" y="2697480"/>
            <a:ext cx="3044952" cy="1920240"/>
          </a:xfrm>
          <a:prstGeom prst="rect">
            <a:avLst/>
          </a:prstGeom>
          <a:noFill/>
          <a:ln/>
        </p:spPr>
        <p:txBody>
          <a:bodyPr wrap="square" lIns="0" tIns="0" rIns="0" bIns="0" rtlCol="0" anchor="t"/>
          <a:lstStyle/>
          <a:p>
            <a:pPr indent="0" marL="0">
              <a:spcAft>
                <a:spcPts val="600"/>
              </a:spcAft>
              <a:buNone/>
            </a:pPr>
            <a:r>
              <a:rPr lang="en-US" sz="2000" b="1" dirty="0">
                <a:solidFill>
                  <a:srgbClr val="FFFFFF"/>
                </a:solidFill>
              </a:rPr>
              <a:t>Primăria Municipiului Iași</a:t>
            </a:r>
            <a:endParaRPr lang="en-US" sz="2000" dirty="0"/>
          </a:p>
          <a:p>
            <a:pPr indent="0" marL="0">
              <a:spcAft>
                <a:spcPts val="600"/>
              </a:spcAft>
              <a:buNone/>
            </a:pPr>
            <a:r>
              <a:rPr lang="en-US" sz="1500" dirty="0">
                <a:solidFill>
                  <a:srgbClr val="D5E1E8"/>
                </a:solidFill>
              </a:rPr>
              <a:t>Cetățenii folosesc aplicația gratuit.</a:t>
            </a:r>
            <a:endParaRPr lang="en-US" sz="2000" dirty="0"/>
          </a:p>
        </p:txBody>
      </p:sp>
      <p:sp>
        <p:nvSpPr>
          <p:cNvPr id="9" name="Shape 6"/>
          <p:cNvSpPr/>
          <p:nvPr/>
        </p:nvSpPr>
        <p:spPr>
          <a:xfrm>
            <a:off x="4325112" y="1737360"/>
            <a:ext cx="3502152" cy="2514600"/>
          </a:xfrm>
          <a:prstGeom prst="roundRect">
            <a:avLst>
              <a:gd name="adj" fmla="val 4364"/>
            </a:avLst>
          </a:prstGeom>
          <a:solidFill>
            <a:srgbClr val="1E3240"/>
          </a:solidFill>
          <a:ln/>
        </p:spPr>
      </p:sp>
      <p:sp>
        <p:nvSpPr>
          <p:cNvPr id="10" name="Shape 7"/>
          <p:cNvSpPr/>
          <p:nvPr/>
        </p:nvSpPr>
        <p:spPr>
          <a:xfrm>
            <a:off x="4553712" y="1938528"/>
            <a:ext cx="502920" cy="502920"/>
          </a:xfrm>
          <a:prstGeom prst="ellipse">
            <a:avLst/>
          </a:prstGeom>
          <a:solidFill>
            <a:srgbClr val="25404F"/>
          </a:solidFill>
          <a:ln/>
        </p:spPr>
      </p:sp>
      <p:pic>
        <p:nvPicPr>
          <p:cNvPr id="11" name="Image 1" descr="preencoded.png">    </p:cNvPr>
          <p:cNvPicPr>
            <a:picLocks noChangeAspect="1"/>
          </p:cNvPicPr>
          <p:nvPr/>
        </p:nvPicPr>
        <p:blipFill>
          <a:blip r:embed="rId2"/>
          <a:stretch>
            <a:fillRect/>
          </a:stretch>
        </p:blipFill>
        <p:spPr>
          <a:xfrm>
            <a:off x="4664354" y="2049170"/>
            <a:ext cx="281635" cy="281635"/>
          </a:xfrm>
          <a:prstGeom prst="rect">
            <a:avLst/>
          </a:prstGeom>
        </p:spPr>
      </p:pic>
      <p:sp>
        <p:nvSpPr>
          <p:cNvPr id="12" name="Text 8"/>
          <p:cNvSpPr txBox="1"/>
          <p:nvPr/>
        </p:nvSpPr>
        <p:spPr>
          <a:xfrm>
            <a:off x="5193792" y="2066544"/>
            <a:ext cx="2496312" cy="256032"/>
          </a:xfrm>
          <a:prstGeom prst="rect">
            <a:avLst/>
          </a:prstGeom>
          <a:noFill/>
          <a:ln/>
        </p:spPr>
        <p:txBody>
          <a:bodyPr wrap="square" lIns="0" tIns="0" rIns="0" bIns="0" rtlCol="0" anchor="ctr"/>
          <a:lstStyle/>
          <a:p>
            <a:pPr indent="0" marL="0">
              <a:buNone/>
            </a:pPr>
            <a:r>
              <a:rPr lang="en-US" sz="1100" b="1" spc="200" kern="0" dirty="0">
                <a:solidFill>
                  <a:srgbClr val="F2B84B"/>
                </a:solidFill>
              </a:rPr>
              <a:t>CÂT ȘI CUM · IPOTEZĂ</a:t>
            </a:r>
            <a:endParaRPr lang="en-US" sz="1100" dirty="0"/>
          </a:p>
        </p:txBody>
      </p:sp>
      <p:sp>
        <p:nvSpPr>
          <p:cNvPr id="13" name="Text 9"/>
          <p:cNvSpPr txBox="1"/>
          <p:nvPr/>
        </p:nvSpPr>
        <p:spPr>
          <a:xfrm>
            <a:off x="4553712" y="2697480"/>
            <a:ext cx="3044952" cy="1920240"/>
          </a:xfrm>
          <a:prstGeom prst="rect">
            <a:avLst/>
          </a:prstGeom>
          <a:noFill/>
          <a:ln/>
        </p:spPr>
        <p:txBody>
          <a:bodyPr wrap="square" lIns="0" tIns="0" rIns="0" bIns="0" rtlCol="0" anchor="t"/>
          <a:lstStyle/>
          <a:p>
            <a:pPr indent="0" marL="0">
              <a:spcAft>
                <a:spcPts val="600"/>
              </a:spcAft>
              <a:buNone/>
            </a:pPr>
            <a:r>
              <a:rPr lang="en-US" sz="2000" b="1" dirty="0">
                <a:solidFill>
                  <a:srgbClr val="FFFFFF"/>
                </a:solidFill>
              </a:rPr>
              <a:t>Licență anuală pentru municipiu</a:t>
            </a:r>
            <a:endParaRPr lang="en-US" sz="2000" dirty="0"/>
          </a:p>
          <a:p>
            <a:pPr indent="0" marL="0">
              <a:spcAft>
                <a:spcPts val="600"/>
              </a:spcAft>
              <a:buNone/>
            </a:pPr>
            <a:r>
              <a:rPr lang="en-US" sz="1500" dirty="0">
                <a:solidFill>
                  <a:srgbClr val="D5E1E8"/>
                </a:solidFill>
              </a:rPr>
              <a:t>Prețul se stabilește în discuția cu Primăria.</a:t>
            </a:r>
            <a:endParaRPr lang="en-US" sz="2000" dirty="0"/>
          </a:p>
        </p:txBody>
      </p:sp>
      <p:sp>
        <p:nvSpPr>
          <p:cNvPr id="14" name="Shape 10"/>
          <p:cNvSpPr/>
          <p:nvPr/>
        </p:nvSpPr>
        <p:spPr>
          <a:xfrm>
            <a:off x="8101584" y="1737360"/>
            <a:ext cx="3502152" cy="2514600"/>
          </a:xfrm>
          <a:prstGeom prst="roundRect">
            <a:avLst>
              <a:gd name="adj" fmla="val 4364"/>
            </a:avLst>
          </a:prstGeom>
          <a:solidFill>
            <a:srgbClr val="1E3240"/>
          </a:solidFill>
          <a:ln/>
        </p:spPr>
      </p:sp>
      <p:sp>
        <p:nvSpPr>
          <p:cNvPr id="15" name="Shape 11"/>
          <p:cNvSpPr/>
          <p:nvPr/>
        </p:nvSpPr>
        <p:spPr>
          <a:xfrm>
            <a:off x="8330184" y="1938528"/>
            <a:ext cx="502920" cy="502920"/>
          </a:xfrm>
          <a:prstGeom prst="ellipse">
            <a:avLst/>
          </a:prstGeom>
          <a:solidFill>
            <a:srgbClr val="25404F"/>
          </a:solidFill>
          <a:ln/>
        </p:spPr>
      </p:sp>
      <p:pic>
        <p:nvPicPr>
          <p:cNvPr id="16" name="Image 2" descr="preencoded.png">    </p:cNvPr>
          <p:cNvPicPr>
            <a:picLocks noChangeAspect="1"/>
          </p:cNvPicPr>
          <p:nvPr/>
        </p:nvPicPr>
        <p:blipFill>
          <a:blip r:embed="rId3"/>
          <a:stretch>
            <a:fillRect/>
          </a:stretch>
        </p:blipFill>
        <p:spPr>
          <a:xfrm>
            <a:off x="8440826" y="2049170"/>
            <a:ext cx="281635" cy="281635"/>
          </a:xfrm>
          <a:prstGeom prst="rect">
            <a:avLst/>
          </a:prstGeom>
        </p:spPr>
      </p:pic>
      <p:sp>
        <p:nvSpPr>
          <p:cNvPr id="17" name="Text 12"/>
          <p:cNvSpPr txBox="1"/>
          <p:nvPr/>
        </p:nvSpPr>
        <p:spPr>
          <a:xfrm>
            <a:off x="8970264" y="2066544"/>
            <a:ext cx="2496312" cy="256032"/>
          </a:xfrm>
          <a:prstGeom prst="rect">
            <a:avLst/>
          </a:prstGeom>
          <a:noFill/>
          <a:ln/>
        </p:spPr>
        <p:txBody>
          <a:bodyPr wrap="square" lIns="0" tIns="0" rIns="0" bIns="0" rtlCol="0" anchor="ctr"/>
          <a:lstStyle/>
          <a:p>
            <a:pPr indent="0" marL="0">
              <a:buNone/>
            </a:pPr>
            <a:r>
              <a:rPr lang="en-US" sz="1100" b="1" spc="200" kern="0" dirty="0">
                <a:solidFill>
                  <a:srgbClr val="34C38F"/>
                </a:solidFill>
              </a:rPr>
              <a:t>DE CE AR PLĂTI</a:t>
            </a:r>
            <a:endParaRPr lang="en-US" sz="1100" dirty="0"/>
          </a:p>
        </p:txBody>
      </p:sp>
      <p:sp>
        <p:nvSpPr>
          <p:cNvPr id="18" name="Text 13"/>
          <p:cNvSpPr txBox="1"/>
          <p:nvPr/>
        </p:nvSpPr>
        <p:spPr>
          <a:xfrm>
            <a:off x="8330184" y="2697480"/>
            <a:ext cx="3044952" cy="1920240"/>
          </a:xfrm>
          <a:prstGeom prst="rect">
            <a:avLst/>
          </a:prstGeom>
          <a:noFill/>
          <a:ln/>
        </p:spPr>
        <p:txBody>
          <a:bodyPr wrap="square" lIns="0" tIns="0" rIns="0" bIns="0" rtlCol="0" anchor="t"/>
          <a:lstStyle/>
          <a:p>
            <a:pPr indent="0" marL="0">
              <a:spcAft>
                <a:spcPts val="600"/>
              </a:spcAft>
              <a:buNone/>
            </a:pPr>
            <a:r>
              <a:rPr lang="en-US" sz="1500" dirty="0">
                <a:solidFill>
                  <a:srgbClr val="FFFFFF"/>
                </a:solidFill>
              </a:rPr>
              <a:t>Iași e vizat de procedura UE pentru NO₂ </a:t>
            </a:r>
            <a:pPr indent="0" marL="0">
              <a:spcAft>
                <a:spcPts val="600"/>
              </a:spcAft>
              <a:buNone/>
            </a:pPr>
            <a:r>
              <a:rPr lang="en-US" sz="1200" dirty="0">
                <a:solidFill>
                  <a:srgbClr val="8EA4B2"/>
                </a:solidFill>
              </a:rPr>
              <a:t>(Comisia Europeană, 2020)</a:t>
            </a:r>
            <a:endParaRPr lang="en-US" sz="1500" dirty="0"/>
          </a:p>
          <a:p>
            <a:pPr indent="0" marL="0">
              <a:spcAft>
                <a:spcPts val="600"/>
              </a:spcAft>
              <a:buNone/>
            </a:pPr>
            <a:r>
              <a:rPr lang="en-US" sz="1500" dirty="0">
                <a:solidFill>
                  <a:srgbClr val="FFFFFF"/>
                </a:solidFill>
              </a:rPr>
              <a:t>Primește raportări geolocalizate de la cetățeni: gropi, fum, șantiere, inundații.</a:t>
            </a:r>
            <a:endParaRPr lang="en-US" sz="1500" dirty="0"/>
          </a:p>
        </p:txBody>
      </p:sp>
      <p:sp>
        <p:nvSpPr>
          <p:cNvPr id="19" name="Text 14"/>
          <p:cNvSpPr txBox="1"/>
          <p:nvPr/>
        </p:nvSpPr>
        <p:spPr>
          <a:xfrm>
            <a:off x="548640" y="4617720"/>
            <a:ext cx="45720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COSTUL NOSTRU PRINCIPAL</a:t>
            </a:r>
            <a:endParaRPr lang="en-US" sz="1100" dirty="0"/>
          </a:p>
        </p:txBody>
      </p:sp>
      <p:sp>
        <p:nvSpPr>
          <p:cNvPr id="20" name="Text 15"/>
          <p:cNvSpPr txBox="1"/>
          <p:nvPr/>
        </p:nvSpPr>
        <p:spPr>
          <a:xfrm>
            <a:off x="548640" y="4910328"/>
            <a:ext cx="5394960" cy="777240"/>
          </a:xfrm>
          <a:prstGeom prst="rect">
            <a:avLst/>
          </a:prstGeom>
          <a:noFill/>
          <a:ln/>
        </p:spPr>
        <p:txBody>
          <a:bodyPr wrap="square" lIns="0" tIns="0" rIns="0" bIns="0" rtlCol="0" anchor="t"/>
          <a:lstStyle/>
          <a:p>
            <a:pPr indent="0" marL="0">
              <a:buNone/>
            </a:pPr>
            <a:r>
              <a:rPr lang="en-US" sz="1600" dirty="0">
                <a:solidFill>
                  <a:srgbClr val="D5E1E8"/>
                </a:solidFill>
              </a:rPr>
              <a:t>Găzduirea serverului și apelurile LLM pentru fiecare raportare. Costul per utilizator nu e calculat încă.</a:t>
            </a:r>
            <a:endParaRPr lang="en-US" sz="1600" dirty="0"/>
          </a:p>
        </p:txBody>
      </p:sp>
      <p:sp>
        <p:nvSpPr>
          <p:cNvPr id="21" name="Text 16"/>
          <p:cNvSpPr txBox="1"/>
          <p:nvPr/>
        </p:nvSpPr>
        <p:spPr>
          <a:xfrm>
            <a:off x="6245352" y="4617720"/>
            <a:ext cx="45720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PRIMUL CLIENT PLĂTITOR</a:t>
            </a:r>
            <a:endParaRPr lang="en-US" sz="1100" dirty="0"/>
          </a:p>
        </p:txBody>
      </p:sp>
      <p:sp>
        <p:nvSpPr>
          <p:cNvPr id="22" name="Text 17"/>
          <p:cNvSpPr txBox="1"/>
          <p:nvPr/>
        </p:nvSpPr>
        <p:spPr>
          <a:xfrm>
            <a:off x="6245352" y="4910328"/>
            <a:ext cx="5394960" cy="777240"/>
          </a:xfrm>
          <a:prstGeom prst="rect">
            <a:avLst/>
          </a:prstGeom>
          <a:noFill/>
          <a:ln/>
        </p:spPr>
        <p:txBody>
          <a:bodyPr wrap="square" lIns="0" tIns="0" rIns="0" bIns="0" rtlCol="0" anchor="t"/>
          <a:lstStyle/>
          <a:p>
            <a:pPr indent="0" marL="0">
              <a:buNone/>
            </a:pPr>
            <a:r>
              <a:rPr lang="en-US" sz="1600" dirty="0">
                <a:solidFill>
                  <a:srgbClr val="D5E1E8"/>
                </a:solidFill>
              </a:rPr>
              <a:t>Primăria Iași: încă necontactată. E primul pas după hackathon.</a:t>
            </a:r>
            <a:endParaRPr lang="en-US" sz="1600" dirty="0"/>
          </a:p>
        </p:txBody>
      </p:sp>
      <p:sp>
        <p:nvSpPr>
          <p:cNvPr id="23" name="Text 18"/>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7 /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O — ECHIPA</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Patru ieșeni care respiră același aer</a:t>
            </a:r>
            <a:endParaRPr lang="en-US" sz="3400" dirty="0"/>
          </a:p>
        </p:txBody>
      </p:sp>
      <p:sp>
        <p:nvSpPr>
          <p:cNvPr id="4" name="Shape 2"/>
          <p:cNvSpPr/>
          <p:nvPr/>
        </p:nvSpPr>
        <p:spPr>
          <a:xfrm>
            <a:off x="548640" y="1737360"/>
            <a:ext cx="2587752" cy="2651760"/>
          </a:xfrm>
          <a:prstGeom prst="roundRect">
            <a:avLst>
              <a:gd name="adj" fmla="val 4240"/>
            </a:avLst>
          </a:prstGeom>
          <a:solidFill>
            <a:srgbClr val="1E3240"/>
          </a:solidFill>
          <a:ln/>
        </p:spPr>
      </p:sp>
      <p:sp>
        <p:nvSpPr>
          <p:cNvPr id="5" name="Shape 3"/>
          <p:cNvSpPr/>
          <p:nvPr/>
        </p:nvSpPr>
        <p:spPr>
          <a:xfrm>
            <a:off x="777240" y="1938528"/>
            <a:ext cx="777240" cy="777240"/>
          </a:xfrm>
          <a:prstGeom prst="ellipse">
            <a:avLst/>
          </a:prstGeom>
          <a:solidFill>
            <a:srgbClr val="34C38F"/>
          </a:solidFill>
          <a:ln/>
        </p:spPr>
      </p:sp>
      <p:sp>
        <p:nvSpPr>
          <p:cNvPr id="6" name="Text 4"/>
          <p:cNvSpPr txBox="1"/>
          <p:nvPr/>
        </p:nvSpPr>
        <p:spPr>
          <a:xfrm>
            <a:off x="777240" y="1938528"/>
            <a:ext cx="777240" cy="777240"/>
          </a:xfrm>
          <a:prstGeom prst="rect">
            <a:avLst/>
          </a:prstGeom>
          <a:noFill/>
          <a:ln/>
        </p:spPr>
        <p:txBody>
          <a:bodyPr wrap="square" lIns="0" tIns="0" rIns="0" bIns="0" rtlCol="0" anchor="ctr"/>
          <a:lstStyle/>
          <a:p>
            <a:pPr algn="ctr" indent="0" marL="0">
              <a:buNone/>
            </a:pPr>
            <a:r>
              <a:rPr lang="en-US" sz="2000" b="1" dirty="0">
                <a:solidFill>
                  <a:srgbClr val="0E1A22"/>
                </a:solidFill>
              </a:rPr>
              <a:t>BC</a:t>
            </a:r>
            <a:endParaRPr lang="en-US" sz="2000" dirty="0"/>
          </a:p>
        </p:txBody>
      </p:sp>
      <p:sp>
        <p:nvSpPr>
          <p:cNvPr id="7" name="Text 5"/>
          <p:cNvSpPr txBox="1"/>
          <p:nvPr/>
        </p:nvSpPr>
        <p:spPr>
          <a:xfrm>
            <a:off x="777240" y="2852928"/>
            <a:ext cx="2221992" cy="365760"/>
          </a:xfrm>
          <a:prstGeom prst="rect">
            <a:avLst/>
          </a:prstGeom>
          <a:noFill/>
          <a:ln/>
        </p:spPr>
        <p:txBody>
          <a:bodyPr wrap="square" lIns="0" tIns="0" rIns="0" bIns="0" rtlCol="0" anchor="ctr"/>
          <a:lstStyle/>
          <a:p>
            <a:pPr indent="0" marL="0">
              <a:buNone/>
            </a:pPr>
            <a:r>
              <a:rPr lang="en-US" sz="1800" b="1" dirty="0">
                <a:solidFill>
                  <a:srgbClr val="FFFFFF"/>
                </a:solidFill>
              </a:rPr>
              <a:t>Benoni Circiu</a:t>
            </a:r>
            <a:endParaRPr lang="en-US" sz="1800" dirty="0"/>
          </a:p>
        </p:txBody>
      </p:sp>
      <p:sp>
        <p:nvSpPr>
          <p:cNvPr id="8" name="Text 6"/>
          <p:cNvSpPr txBox="1"/>
          <p:nvPr/>
        </p:nvSpPr>
        <p:spPr>
          <a:xfrm>
            <a:off x="777240" y="3273552"/>
            <a:ext cx="2130552" cy="329184"/>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[ROL]</a:t>
            </a:r>
            <a:endParaRPr lang="en-US" sz="1200" dirty="0"/>
          </a:p>
        </p:txBody>
      </p:sp>
      <p:sp>
        <p:nvSpPr>
          <p:cNvPr id="9" name="Text 7"/>
          <p:cNvSpPr txBox="1"/>
          <p:nvPr/>
        </p:nvSpPr>
        <p:spPr>
          <a:xfrm>
            <a:off x="777240" y="3721608"/>
            <a:ext cx="2130552" cy="45720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[A DEȚINUT, ÎN 48H]</a:t>
            </a:r>
            <a:endParaRPr lang="en-US" sz="1200" dirty="0"/>
          </a:p>
        </p:txBody>
      </p:sp>
      <p:sp>
        <p:nvSpPr>
          <p:cNvPr id="10" name="Shape 8"/>
          <p:cNvSpPr/>
          <p:nvPr/>
        </p:nvSpPr>
        <p:spPr>
          <a:xfrm>
            <a:off x="3374136" y="1737360"/>
            <a:ext cx="2587752" cy="2651760"/>
          </a:xfrm>
          <a:prstGeom prst="roundRect">
            <a:avLst>
              <a:gd name="adj" fmla="val 4240"/>
            </a:avLst>
          </a:prstGeom>
          <a:solidFill>
            <a:srgbClr val="1E3240"/>
          </a:solidFill>
          <a:ln/>
        </p:spPr>
      </p:sp>
      <p:sp>
        <p:nvSpPr>
          <p:cNvPr id="11" name="Shape 9"/>
          <p:cNvSpPr/>
          <p:nvPr/>
        </p:nvSpPr>
        <p:spPr>
          <a:xfrm>
            <a:off x="3602736" y="1938528"/>
            <a:ext cx="777240" cy="777240"/>
          </a:xfrm>
          <a:prstGeom prst="ellipse">
            <a:avLst/>
          </a:prstGeom>
          <a:solidFill>
            <a:srgbClr val="34C38F"/>
          </a:solidFill>
          <a:ln/>
        </p:spPr>
      </p:sp>
      <p:sp>
        <p:nvSpPr>
          <p:cNvPr id="12" name="Text 10"/>
          <p:cNvSpPr txBox="1"/>
          <p:nvPr/>
        </p:nvSpPr>
        <p:spPr>
          <a:xfrm>
            <a:off x="3602736" y="1938528"/>
            <a:ext cx="777240" cy="777240"/>
          </a:xfrm>
          <a:prstGeom prst="rect">
            <a:avLst/>
          </a:prstGeom>
          <a:noFill/>
          <a:ln/>
        </p:spPr>
        <p:txBody>
          <a:bodyPr wrap="square" lIns="0" tIns="0" rIns="0" bIns="0" rtlCol="0" anchor="ctr"/>
          <a:lstStyle/>
          <a:p>
            <a:pPr algn="ctr" indent="0" marL="0">
              <a:buNone/>
            </a:pPr>
            <a:r>
              <a:rPr lang="en-US" sz="2000" b="1" dirty="0">
                <a:solidFill>
                  <a:srgbClr val="0E1A22"/>
                </a:solidFill>
              </a:rPr>
              <a:t>MG</a:t>
            </a:r>
            <a:endParaRPr lang="en-US" sz="2000" dirty="0"/>
          </a:p>
        </p:txBody>
      </p:sp>
      <p:sp>
        <p:nvSpPr>
          <p:cNvPr id="13" name="Text 11"/>
          <p:cNvSpPr txBox="1"/>
          <p:nvPr/>
        </p:nvSpPr>
        <p:spPr>
          <a:xfrm>
            <a:off x="3602736" y="2852928"/>
            <a:ext cx="2221992" cy="365760"/>
          </a:xfrm>
          <a:prstGeom prst="rect">
            <a:avLst/>
          </a:prstGeom>
          <a:noFill/>
          <a:ln/>
        </p:spPr>
        <p:txBody>
          <a:bodyPr wrap="square" lIns="0" tIns="0" rIns="0" bIns="0" rtlCol="0" anchor="ctr"/>
          <a:lstStyle/>
          <a:p>
            <a:pPr indent="0" marL="0">
              <a:buNone/>
            </a:pPr>
            <a:r>
              <a:rPr lang="en-US" sz="1800" b="1" dirty="0">
                <a:solidFill>
                  <a:srgbClr val="FFFFFF"/>
                </a:solidFill>
              </a:rPr>
              <a:t>Mihail Gosman</a:t>
            </a:r>
            <a:endParaRPr lang="en-US" sz="1800" dirty="0"/>
          </a:p>
        </p:txBody>
      </p:sp>
      <p:sp>
        <p:nvSpPr>
          <p:cNvPr id="14" name="Text 12"/>
          <p:cNvSpPr txBox="1"/>
          <p:nvPr/>
        </p:nvSpPr>
        <p:spPr>
          <a:xfrm>
            <a:off x="3602736" y="3273552"/>
            <a:ext cx="2130552" cy="329184"/>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[ROL]</a:t>
            </a:r>
            <a:endParaRPr lang="en-US" sz="1200" dirty="0"/>
          </a:p>
        </p:txBody>
      </p:sp>
      <p:sp>
        <p:nvSpPr>
          <p:cNvPr id="15" name="Text 13"/>
          <p:cNvSpPr txBox="1"/>
          <p:nvPr/>
        </p:nvSpPr>
        <p:spPr>
          <a:xfrm>
            <a:off x="3602736" y="3721608"/>
            <a:ext cx="2130552" cy="45720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[A DEȚINUT, ÎN 48H]</a:t>
            </a:r>
            <a:endParaRPr lang="en-US" sz="1200" dirty="0"/>
          </a:p>
        </p:txBody>
      </p:sp>
      <p:sp>
        <p:nvSpPr>
          <p:cNvPr id="16" name="Shape 14"/>
          <p:cNvSpPr/>
          <p:nvPr/>
        </p:nvSpPr>
        <p:spPr>
          <a:xfrm>
            <a:off x="6199632" y="1737360"/>
            <a:ext cx="2587752" cy="2651760"/>
          </a:xfrm>
          <a:prstGeom prst="roundRect">
            <a:avLst>
              <a:gd name="adj" fmla="val 4240"/>
            </a:avLst>
          </a:prstGeom>
          <a:solidFill>
            <a:srgbClr val="1E3240"/>
          </a:solidFill>
          <a:ln/>
        </p:spPr>
      </p:sp>
      <p:sp>
        <p:nvSpPr>
          <p:cNvPr id="17" name="Shape 15"/>
          <p:cNvSpPr/>
          <p:nvPr/>
        </p:nvSpPr>
        <p:spPr>
          <a:xfrm>
            <a:off x="6428232" y="1938528"/>
            <a:ext cx="777240" cy="777240"/>
          </a:xfrm>
          <a:prstGeom prst="ellipse">
            <a:avLst/>
          </a:prstGeom>
          <a:solidFill>
            <a:srgbClr val="34C38F"/>
          </a:solidFill>
          <a:ln/>
        </p:spPr>
      </p:sp>
      <p:sp>
        <p:nvSpPr>
          <p:cNvPr id="18" name="Text 16"/>
          <p:cNvSpPr txBox="1"/>
          <p:nvPr/>
        </p:nvSpPr>
        <p:spPr>
          <a:xfrm>
            <a:off x="6428232" y="1938528"/>
            <a:ext cx="777240" cy="777240"/>
          </a:xfrm>
          <a:prstGeom prst="rect">
            <a:avLst/>
          </a:prstGeom>
          <a:noFill/>
          <a:ln/>
        </p:spPr>
        <p:txBody>
          <a:bodyPr wrap="square" lIns="0" tIns="0" rIns="0" bIns="0" rtlCol="0" anchor="ctr"/>
          <a:lstStyle/>
          <a:p>
            <a:pPr algn="ctr" indent="0" marL="0">
              <a:buNone/>
            </a:pPr>
            <a:r>
              <a:rPr lang="en-US" sz="2000" b="1" dirty="0">
                <a:solidFill>
                  <a:srgbClr val="0E1A22"/>
                </a:solidFill>
              </a:rPr>
              <a:t>RN</a:t>
            </a:r>
            <a:endParaRPr lang="en-US" sz="2000" dirty="0"/>
          </a:p>
        </p:txBody>
      </p:sp>
      <p:sp>
        <p:nvSpPr>
          <p:cNvPr id="19" name="Text 17"/>
          <p:cNvSpPr txBox="1"/>
          <p:nvPr/>
        </p:nvSpPr>
        <p:spPr>
          <a:xfrm>
            <a:off x="6428232" y="2852928"/>
            <a:ext cx="2221992" cy="365760"/>
          </a:xfrm>
          <a:prstGeom prst="rect">
            <a:avLst/>
          </a:prstGeom>
          <a:noFill/>
          <a:ln/>
        </p:spPr>
        <p:txBody>
          <a:bodyPr wrap="square" lIns="0" tIns="0" rIns="0" bIns="0" rtlCol="0" anchor="ctr"/>
          <a:lstStyle/>
          <a:p>
            <a:pPr indent="0" marL="0">
              <a:buNone/>
            </a:pPr>
            <a:r>
              <a:rPr lang="en-US" sz="1800" b="1" dirty="0">
                <a:solidFill>
                  <a:srgbClr val="FFFFFF"/>
                </a:solidFill>
              </a:rPr>
              <a:t>Robert Nistor</a:t>
            </a:r>
            <a:endParaRPr lang="en-US" sz="1800" dirty="0"/>
          </a:p>
        </p:txBody>
      </p:sp>
      <p:sp>
        <p:nvSpPr>
          <p:cNvPr id="20" name="Text 18"/>
          <p:cNvSpPr txBox="1"/>
          <p:nvPr/>
        </p:nvSpPr>
        <p:spPr>
          <a:xfrm>
            <a:off x="6428232" y="3273552"/>
            <a:ext cx="2130552" cy="329184"/>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[ROL]</a:t>
            </a:r>
            <a:endParaRPr lang="en-US" sz="1200" dirty="0"/>
          </a:p>
        </p:txBody>
      </p:sp>
      <p:sp>
        <p:nvSpPr>
          <p:cNvPr id="21" name="Text 19"/>
          <p:cNvSpPr txBox="1"/>
          <p:nvPr/>
        </p:nvSpPr>
        <p:spPr>
          <a:xfrm>
            <a:off x="6428232" y="3721608"/>
            <a:ext cx="2130552" cy="45720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[A DEȚINUT, ÎN 48H]</a:t>
            </a:r>
            <a:endParaRPr lang="en-US" sz="1200" dirty="0"/>
          </a:p>
        </p:txBody>
      </p:sp>
      <p:sp>
        <p:nvSpPr>
          <p:cNvPr id="22" name="Shape 20"/>
          <p:cNvSpPr/>
          <p:nvPr/>
        </p:nvSpPr>
        <p:spPr>
          <a:xfrm>
            <a:off x="9025128" y="1737360"/>
            <a:ext cx="2587752" cy="2651760"/>
          </a:xfrm>
          <a:prstGeom prst="roundRect">
            <a:avLst>
              <a:gd name="adj" fmla="val 4240"/>
            </a:avLst>
          </a:prstGeom>
          <a:solidFill>
            <a:srgbClr val="1E3240"/>
          </a:solidFill>
          <a:ln/>
        </p:spPr>
      </p:sp>
      <p:sp>
        <p:nvSpPr>
          <p:cNvPr id="23" name="Shape 21"/>
          <p:cNvSpPr/>
          <p:nvPr/>
        </p:nvSpPr>
        <p:spPr>
          <a:xfrm>
            <a:off x="9253728" y="1938528"/>
            <a:ext cx="777240" cy="777240"/>
          </a:xfrm>
          <a:prstGeom prst="ellipse">
            <a:avLst/>
          </a:prstGeom>
          <a:solidFill>
            <a:srgbClr val="34C38F"/>
          </a:solidFill>
          <a:ln/>
        </p:spPr>
      </p:sp>
      <p:sp>
        <p:nvSpPr>
          <p:cNvPr id="24" name="Text 22"/>
          <p:cNvSpPr txBox="1"/>
          <p:nvPr/>
        </p:nvSpPr>
        <p:spPr>
          <a:xfrm>
            <a:off x="9253728" y="1938528"/>
            <a:ext cx="777240" cy="777240"/>
          </a:xfrm>
          <a:prstGeom prst="rect">
            <a:avLst/>
          </a:prstGeom>
          <a:noFill/>
          <a:ln/>
        </p:spPr>
        <p:txBody>
          <a:bodyPr wrap="square" lIns="0" tIns="0" rIns="0" bIns="0" rtlCol="0" anchor="ctr"/>
          <a:lstStyle/>
          <a:p>
            <a:pPr algn="ctr" indent="0" marL="0">
              <a:buNone/>
            </a:pPr>
            <a:r>
              <a:rPr lang="en-US" sz="2000" b="1" dirty="0">
                <a:solidFill>
                  <a:srgbClr val="0E1A22"/>
                </a:solidFill>
              </a:rPr>
              <a:t>MD</a:t>
            </a:r>
            <a:endParaRPr lang="en-US" sz="2000" dirty="0"/>
          </a:p>
        </p:txBody>
      </p:sp>
      <p:sp>
        <p:nvSpPr>
          <p:cNvPr id="25" name="Text 23"/>
          <p:cNvSpPr txBox="1"/>
          <p:nvPr/>
        </p:nvSpPr>
        <p:spPr>
          <a:xfrm>
            <a:off x="9253728" y="2852928"/>
            <a:ext cx="2221992" cy="365760"/>
          </a:xfrm>
          <a:prstGeom prst="rect">
            <a:avLst/>
          </a:prstGeom>
          <a:noFill/>
          <a:ln/>
        </p:spPr>
        <p:txBody>
          <a:bodyPr wrap="square" lIns="0" tIns="0" rIns="0" bIns="0" rtlCol="0" anchor="ctr"/>
          <a:lstStyle/>
          <a:p>
            <a:pPr indent="0" marL="0">
              <a:buNone/>
            </a:pPr>
            <a:r>
              <a:rPr lang="en-US" sz="1800" b="1" dirty="0">
                <a:solidFill>
                  <a:srgbClr val="FFFFFF"/>
                </a:solidFill>
              </a:rPr>
              <a:t>Marian Duma</a:t>
            </a:r>
            <a:endParaRPr lang="en-US" sz="1800" dirty="0"/>
          </a:p>
        </p:txBody>
      </p:sp>
      <p:sp>
        <p:nvSpPr>
          <p:cNvPr id="26" name="Text 24"/>
          <p:cNvSpPr txBox="1"/>
          <p:nvPr/>
        </p:nvSpPr>
        <p:spPr>
          <a:xfrm>
            <a:off x="9253728" y="3273552"/>
            <a:ext cx="2130552" cy="329184"/>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[ROL]</a:t>
            </a:r>
            <a:endParaRPr lang="en-US" sz="1200" dirty="0"/>
          </a:p>
        </p:txBody>
      </p:sp>
      <p:sp>
        <p:nvSpPr>
          <p:cNvPr id="27" name="Text 25"/>
          <p:cNvSpPr txBox="1"/>
          <p:nvPr/>
        </p:nvSpPr>
        <p:spPr>
          <a:xfrm>
            <a:off x="9253728" y="3721608"/>
            <a:ext cx="2130552" cy="45720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200" dirty="0">
                <a:solidFill>
                  <a:srgbClr val="EF6B55"/>
                </a:solidFill>
                <a:latin typeface="Consolas" pitchFamily="34" charset="0"/>
                <a:ea typeface="Consolas" pitchFamily="34" charset="-122"/>
                <a:cs typeface="Consolas" pitchFamily="34" charset="-120"/>
              </a:rPr>
              <a:t>[A DEȚINUT, ÎN 48H]</a:t>
            </a:r>
            <a:endParaRPr lang="en-US" sz="1200" dirty="0"/>
          </a:p>
        </p:txBody>
      </p:sp>
      <p:sp>
        <p:nvSpPr>
          <p:cNvPr id="28" name="Shape 26"/>
          <p:cNvSpPr/>
          <p:nvPr/>
        </p:nvSpPr>
        <p:spPr>
          <a:xfrm>
            <a:off x="548640" y="4663440"/>
            <a:ext cx="6949440" cy="1463040"/>
          </a:xfrm>
          <a:prstGeom prst="roundRect">
            <a:avLst>
              <a:gd name="adj" fmla="val 7500"/>
            </a:avLst>
          </a:prstGeom>
          <a:solidFill>
            <a:srgbClr val="1C3A33"/>
          </a:solidFill>
          <a:ln/>
        </p:spPr>
      </p:sp>
      <p:sp>
        <p:nvSpPr>
          <p:cNvPr id="29" name="Text 27"/>
          <p:cNvSpPr txBox="1"/>
          <p:nvPr/>
        </p:nvSpPr>
        <p:spPr>
          <a:xfrm>
            <a:off x="777240" y="4846320"/>
            <a:ext cx="36576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DE CE NOI</a:t>
            </a:r>
            <a:endParaRPr lang="en-US" sz="1100" dirty="0"/>
          </a:p>
        </p:txBody>
      </p:sp>
      <p:sp>
        <p:nvSpPr>
          <p:cNvPr id="30" name="Text 28"/>
          <p:cNvSpPr txBox="1"/>
          <p:nvPr/>
        </p:nvSpPr>
        <p:spPr>
          <a:xfrm>
            <a:off x="777240" y="5138928"/>
            <a:ext cx="6492240" cy="914400"/>
          </a:xfrm>
          <a:prstGeom prst="rect">
            <a:avLst/>
          </a:prstGeom>
          <a:noFill/>
          <a:ln/>
        </p:spPr>
        <p:txBody>
          <a:bodyPr wrap="square" lIns="0" tIns="0" rIns="0" bIns="0" rtlCol="0" anchor="t"/>
          <a:lstStyle/>
          <a:p>
            <a:pPr indent="0" marL="0">
              <a:buNone/>
            </a:pPr>
            <a:r>
              <a:rPr lang="en-US" sz="1500" dirty="0">
                <a:solidFill>
                  <a:srgbClr val="FFFFFF"/>
                </a:solidFill>
              </a:rPr>
              <a:t>Suntem și noi afectați de poluarea din oraș. Vrem ca oamenii să vadă aerul pe care îl respiră, pentru că o hartă deschisă zilnic face poluarea vizibilă.</a:t>
            </a:r>
            <a:endParaRPr lang="en-US" sz="1500" dirty="0"/>
          </a:p>
        </p:txBody>
      </p:sp>
      <p:sp>
        <p:nvSpPr>
          <p:cNvPr id="31" name="Shape 29"/>
          <p:cNvSpPr/>
          <p:nvPr/>
        </p:nvSpPr>
        <p:spPr>
          <a:xfrm>
            <a:off x="7772400" y="4663440"/>
            <a:ext cx="3867912" cy="1463040"/>
          </a:xfrm>
          <a:prstGeom prst="roundRect">
            <a:avLst>
              <a:gd name="adj" fmla="val 7500"/>
            </a:avLst>
          </a:prstGeom>
          <a:solidFill>
            <a:srgbClr val="1E3240"/>
          </a:solidFill>
          <a:ln/>
        </p:spPr>
      </p:sp>
      <p:sp>
        <p:nvSpPr>
          <p:cNvPr id="32" name="Text 30"/>
          <p:cNvSpPr txBox="1"/>
          <p:nvPr/>
        </p:nvSpPr>
        <p:spPr>
          <a:xfrm>
            <a:off x="8001000" y="4846320"/>
            <a:ext cx="347472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DUPĂ HACKATHON CONTINUĂ</a:t>
            </a:r>
            <a:endParaRPr lang="en-US" sz="1100" dirty="0"/>
          </a:p>
        </p:txBody>
      </p:sp>
      <p:sp>
        <p:nvSpPr>
          <p:cNvPr id="33" name="Text 31"/>
          <p:cNvSpPr txBox="1"/>
          <p:nvPr/>
        </p:nvSpPr>
        <p:spPr>
          <a:xfrm>
            <a:off x="8001000" y="5257800"/>
            <a:ext cx="3410712" cy="45720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300" dirty="0">
                <a:solidFill>
                  <a:srgbClr val="EF6B55"/>
                </a:solidFill>
                <a:latin typeface="Consolas" pitchFamily="34" charset="0"/>
                <a:ea typeface="Consolas" pitchFamily="34" charset="-122"/>
                <a:cs typeface="Consolas" pitchFamily="34" charset="-120"/>
              </a:rPr>
              <a:t>[CINE]</a:t>
            </a:r>
            <a:endParaRPr lang="en-US" sz="1300" dirty="0"/>
          </a:p>
        </p:txBody>
      </p:sp>
      <p:sp>
        <p:nvSpPr>
          <p:cNvPr id="34" name="Text 3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8 / 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 — CE URMEAZĂ</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Ce măsurăm primul și ce vă cerem</a:t>
            </a:r>
            <a:endParaRPr lang="en-US" sz="3400" dirty="0"/>
          </a:p>
        </p:txBody>
      </p:sp>
      <p:sp>
        <p:nvSpPr>
          <p:cNvPr id="4" name="Shape 2"/>
          <p:cNvSpPr/>
          <p:nvPr/>
        </p:nvSpPr>
        <p:spPr>
          <a:xfrm>
            <a:off x="548640" y="1737360"/>
            <a:ext cx="11091672" cy="960120"/>
          </a:xfrm>
          <a:prstGeom prst="roundRect">
            <a:avLst>
              <a:gd name="adj" fmla="val 11429"/>
            </a:avLst>
          </a:prstGeom>
          <a:solidFill>
            <a:srgbClr val="1E3240"/>
          </a:solidFill>
          <a:ln/>
        </p:spPr>
      </p:sp>
      <p:sp>
        <p:nvSpPr>
          <p:cNvPr id="5" name="Shape 3"/>
          <p:cNvSpPr/>
          <p:nvPr/>
        </p:nvSpPr>
        <p:spPr>
          <a:xfrm>
            <a:off x="777240" y="1938528"/>
            <a:ext cx="548640" cy="548640"/>
          </a:xfrm>
          <a:prstGeom prst="ellipse">
            <a:avLst/>
          </a:prstGeom>
          <a:solidFill>
            <a:srgbClr val="25404F"/>
          </a:solidFill>
          <a:ln/>
        </p:spPr>
      </p:sp>
      <p:pic>
        <p:nvPicPr>
          <p:cNvPr id="6" name="Image 0" descr="preencoded.png">    </p:cNvPr>
          <p:cNvPicPr>
            <a:picLocks noChangeAspect="1"/>
          </p:cNvPicPr>
          <p:nvPr/>
        </p:nvPicPr>
        <p:blipFill>
          <a:blip r:embed="rId1"/>
          <a:stretch>
            <a:fillRect/>
          </a:stretch>
        </p:blipFill>
        <p:spPr>
          <a:xfrm>
            <a:off x="897941" y="2059229"/>
            <a:ext cx="307238" cy="307238"/>
          </a:xfrm>
          <a:prstGeom prst="rect">
            <a:avLst/>
          </a:prstGeom>
        </p:spPr>
      </p:pic>
      <p:sp>
        <p:nvSpPr>
          <p:cNvPr id="7" name="Text 4"/>
          <p:cNvSpPr txBox="1"/>
          <p:nvPr/>
        </p:nvSpPr>
        <p:spPr>
          <a:xfrm>
            <a:off x="1554480" y="1847088"/>
            <a:ext cx="2743200" cy="731520"/>
          </a:xfrm>
          <a:prstGeom prst="rect">
            <a:avLst/>
          </a:prstGeom>
          <a:noFill/>
          <a:ln/>
        </p:spPr>
        <p:txBody>
          <a:bodyPr wrap="square" lIns="0" tIns="0" rIns="0" bIns="0" rtlCol="0" anchor="ctr"/>
          <a:lstStyle/>
          <a:p>
            <a:pPr indent="0" marL="0">
              <a:buNone/>
            </a:pPr>
            <a:r>
              <a:rPr lang="en-US" sz="1700" b="1" dirty="0">
                <a:solidFill>
                  <a:srgbClr val="FFFFFF"/>
                </a:solidFill>
              </a:rPr>
              <a:t>Am tăiat și punem înapoi</a:t>
            </a:r>
            <a:endParaRPr lang="en-US" sz="1700" dirty="0"/>
          </a:p>
        </p:txBody>
      </p:sp>
      <p:sp>
        <p:nvSpPr>
          <p:cNvPr id="8" name="Text 5"/>
          <p:cNvSpPr txBox="1"/>
          <p:nvPr/>
        </p:nvSpPr>
        <p:spPr>
          <a:xfrm>
            <a:off x="4297680" y="1847088"/>
            <a:ext cx="7178040" cy="731520"/>
          </a:xfrm>
          <a:prstGeom prst="rect">
            <a:avLst/>
          </a:prstGeom>
          <a:noFill/>
          <a:ln/>
        </p:spPr>
        <p:txBody>
          <a:bodyPr wrap="square" lIns="0" tIns="0" rIns="0" bIns="0" rtlCol="0" anchor="ctr"/>
          <a:lstStyle/>
          <a:p>
            <a:pPr indent="0" marL="0">
              <a:buNone/>
            </a:pPr>
            <a:r>
              <a:rPr lang="en-US" sz="1400" dirty="0">
                <a:solidFill>
                  <a:srgbClr val="D5E1E8"/>
                </a:solidFill>
              </a:rPr>
              <a:t>Rutarea Valhalla cu ocolirea incidentelor la ora plecării și vitezele reale de trafic de la TomTom (există în cod, dar nu sunt active în demo).</a:t>
            </a:r>
            <a:endParaRPr lang="en-US" sz="1400" dirty="0"/>
          </a:p>
        </p:txBody>
      </p:sp>
      <p:sp>
        <p:nvSpPr>
          <p:cNvPr id="9" name="Shape 6"/>
          <p:cNvSpPr/>
          <p:nvPr/>
        </p:nvSpPr>
        <p:spPr>
          <a:xfrm>
            <a:off x="548640" y="2834640"/>
            <a:ext cx="11091672" cy="960120"/>
          </a:xfrm>
          <a:prstGeom prst="roundRect">
            <a:avLst>
              <a:gd name="adj" fmla="val 11429"/>
            </a:avLst>
          </a:prstGeom>
          <a:solidFill>
            <a:srgbClr val="1E3240"/>
          </a:solidFill>
          <a:ln/>
        </p:spPr>
      </p:sp>
      <p:sp>
        <p:nvSpPr>
          <p:cNvPr id="10" name="Shape 7"/>
          <p:cNvSpPr/>
          <p:nvPr/>
        </p:nvSpPr>
        <p:spPr>
          <a:xfrm>
            <a:off x="777240" y="3035808"/>
            <a:ext cx="548640" cy="548640"/>
          </a:xfrm>
          <a:prstGeom prst="ellipse">
            <a:avLst/>
          </a:prstGeom>
          <a:solidFill>
            <a:srgbClr val="25404F"/>
          </a:solidFill>
          <a:ln/>
        </p:spPr>
      </p:sp>
      <p:pic>
        <p:nvPicPr>
          <p:cNvPr id="11" name="Image 1" descr="preencoded.png">    </p:cNvPr>
          <p:cNvPicPr>
            <a:picLocks noChangeAspect="1"/>
          </p:cNvPicPr>
          <p:nvPr/>
        </p:nvPicPr>
        <p:blipFill>
          <a:blip r:embed="rId2"/>
          <a:stretch>
            <a:fillRect/>
          </a:stretch>
        </p:blipFill>
        <p:spPr>
          <a:xfrm>
            <a:off x="897941" y="3156509"/>
            <a:ext cx="307238" cy="307238"/>
          </a:xfrm>
          <a:prstGeom prst="rect">
            <a:avLst/>
          </a:prstGeom>
        </p:spPr>
      </p:pic>
      <p:sp>
        <p:nvSpPr>
          <p:cNvPr id="12" name="Text 8"/>
          <p:cNvSpPr txBox="1"/>
          <p:nvPr/>
        </p:nvSpPr>
        <p:spPr>
          <a:xfrm>
            <a:off x="1554480" y="2944368"/>
            <a:ext cx="2743200" cy="731520"/>
          </a:xfrm>
          <a:prstGeom prst="rect">
            <a:avLst/>
          </a:prstGeom>
          <a:noFill/>
          <a:ln/>
        </p:spPr>
        <p:txBody>
          <a:bodyPr wrap="square" lIns="0" tIns="0" rIns="0" bIns="0" rtlCol="0" anchor="ctr"/>
          <a:lstStyle/>
          <a:p>
            <a:pPr indent="0" marL="0">
              <a:buNone/>
            </a:pPr>
            <a:r>
              <a:rPr lang="en-US" sz="1700" b="1" dirty="0">
                <a:solidFill>
                  <a:srgbClr val="FFFFFF"/>
                </a:solidFill>
              </a:rPr>
              <a:t>Măsurăm primul</a:t>
            </a:r>
            <a:endParaRPr lang="en-US" sz="1700" dirty="0"/>
          </a:p>
        </p:txBody>
      </p:sp>
      <p:sp>
        <p:nvSpPr>
          <p:cNvPr id="13" name="Text 9"/>
          <p:cNvSpPr txBox="1"/>
          <p:nvPr/>
        </p:nvSpPr>
        <p:spPr>
          <a:xfrm>
            <a:off x="4297680" y="2944368"/>
            <a:ext cx="7178040" cy="731520"/>
          </a:xfrm>
          <a:prstGeom prst="rect">
            <a:avLst/>
          </a:prstGeom>
          <a:noFill/>
          <a:ln/>
        </p:spPr>
        <p:txBody>
          <a:bodyPr wrap="square" lIns="0" tIns="0" rIns="0" bIns="0" rtlCol="0" anchor="ctr"/>
          <a:lstStyle/>
          <a:p>
            <a:pPr indent="0" marL="0">
              <a:buNone/>
            </a:pPr>
            <a:r>
              <a:rPr lang="en-US" sz="1400" dirty="0">
                <a:solidFill>
                  <a:srgbClr val="D5E1E8"/>
                </a:solidFill>
              </a:rPr>
              <a:t>Cât de des aleg utilizatorii «cel mai curat» în locul celui mai rapid traseu: la 50 de ieșeni, în 4 săptămâni.</a:t>
            </a:r>
            <a:endParaRPr lang="en-US" sz="1400" dirty="0"/>
          </a:p>
        </p:txBody>
      </p:sp>
      <p:sp>
        <p:nvSpPr>
          <p:cNvPr id="14" name="Shape 10"/>
          <p:cNvSpPr/>
          <p:nvPr/>
        </p:nvSpPr>
        <p:spPr>
          <a:xfrm>
            <a:off x="548640" y="3931920"/>
            <a:ext cx="11091672" cy="960120"/>
          </a:xfrm>
          <a:prstGeom prst="roundRect">
            <a:avLst>
              <a:gd name="adj" fmla="val 11429"/>
            </a:avLst>
          </a:prstGeom>
          <a:solidFill>
            <a:srgbClr val="1E3240"/>
          </a:solidFill>
          <a:ln/>
        </p:spPr>
      </p:sp>
      <p:sp>
        <p:nvSpPr>
          <p:cNvPr id="15" name="Shape 11"/>
          <p:cNvSpPr/>
          <p:nvPr/>
        </p:nvSpPr>
        <p:spPr>
          <a:xfrm>
            <a:off x="777240" y="4133088"/>
            <a:ext cx="548640" cy="548640"/>
          </a:xfrm>
          <a:prstGeom prst="ellipse">
            <a:avLst/>
          </a:prstGeom>
          <a:solidFill>
            <a:srgbClr val="25404F"/>
          </a:solidFill>
          <a:ln/>
        </p:spPr>
      </p:sp>
      <p:pic>
        <p:nvPicPr>
          <p:cNvPr id="16" name="Image 2" descr="preencoded.png">    </p:cNvPr>
          <p:cNvPicPr>
            <a:picLocks noChangeAspect="1"/>
          </p:cNvPicPr>
          <p:nvPr/>
        </p:nvPicPr>
        <p:blipFill>
          <a:blip r:embed="rId3"/>
          <a:stretch>
            <a:fillRect/>
          </a:stretch>
        </p:blipFill>
        <p:spPr>
          <a:xfrm>
            <a:off x="897941" y="4253789"/>
            <a:ext cx="307238" cy="307238"/>
          </a:xfrm>
          <a:prstGeom prst="rect">
            <a:avLst/>
          </a:prstGeom>
        </p:spPr>
      </p:pic>
      <p:sp>
        <p:nvSpPr>
          <p:cNvPr id="17" name="Text 12"/>
          <p:cNvSpPr txBox="1"/>
          <p:nvPr/>
        </p:nvSpPr>
        <p:spPr>
          <a:xfrm>
            <a:off x="1554480" y="4041648"/>
            <a:ext cx="2743200" cy="731520"/>
          </a:xfrm>
          <a:prstGeom prst="rect">
            <a:avLst/>
          </a:prstGeom>
          <a:noFill/>
          <a:ln/>
        </p:spPr>
        <p:txBody>
          <a:bodyPr wrap="square" lIns="0" tIns="0" rIns="0" bIns="0" rtlCol="0" anchor="ctr"/>
          <a:lstStyle/>
          <a:p>
            <a:pPr indent="0" marL="0">
              <a:buNone/>
            </a:pPr>
            <a:r>
              <a:rPr lang="en-US" sz="1700" b="1" dirty="0">
                <a:solidFill>
                  <a:srgbClr val="FFFFFF"/>
                </a:solidFill>
              </a:rPr>
              <a:t>Cererea noastră</a:t>
            </a:r>
            <a:endParaRPr lang="en-US" sz="1700" dirty="0"/>
          </a:p>
        </p:txBody>
      </p:sp>
      <p:sp>
        <p:nvSpPr>
          <p:cNvPr id="18" name="Text 13"/>
          <p:cNvSpPr txBox="1"/>
          <p:nvPr/>
        </p:nvSpPr>
        <p:spPr>
          <a:xfrm>
            <a:off x="4297680" y="4041648"/>
            <a:ext cx="7178040" cy="731520"/>
          </a:xfrm>
          <a:prstGeom prst="rect">
            <a:avLst/>
          </a:prstGeom>
          <a:noFill/>
          <a:ln/>
        </p:spPr>
        <p:txBody>
          <a:bodyPr wrap="square" lIns="0" tIns="0" rIns="0" bIns="0" rtlCol="0" anchor="ctr"/>
          <a:lstStyle/>
          <a:p>
            <a:pPr indent="0" marL="0">
              <a:buNone/>
            </a:pPr>
            <a:r>
              <a:rPr lang="en-US" sz="1400" dirty="0">
                <a:solidFill>
                  <a:srgbClr val="D5E1E8"/>
                </a:solidFill>
              </a:rPr>
              <a:t>O introducere la Primăria Iași și acces la datele APM Iași în timp real, pentru un pilot în oraș.</a:t>
            </a:r>
            <a:endParaRPr lang="en-US" sz="1400" dirty="0"/>
          </a:p>
        </p:txBody>
      </p:sp>
      <p:sp>
        <p:nvSpPr>
          <p:cNvPr id="19" name="Text 14"/>
          <p:cNvSpPr txBox="1"/>
          <p:nvPr/>
        </p:nvSpPr>
        <p:spPr>
          <a:xfrm>
            <a:off x="548640" y="5120640"/>
            <a:ext cx="8412480" cy="822960"/>
          </a:xfrm>
          <a:prstGeom prst="rect">
            <a:avLst/>
          </a:prstGeom>
          <a:noFill/>
          <a:ln/>
        </p:spPr>
        <p:txBody>
          <a:bodyPr wrap="square" lIns="0" tIns="0" rIns="0" bIns="0" rtlCol="0" anchor="ctr"/>
          <a:lstStyle/>
          <a:p>
            <a:pPr indent="0" marL="0">
              <a:buNone/>
            </a:pPr>
            <a:r>
              <a:rPr lang="en-US" sz="2500" b="1" dirty="0">
                <a:solidFill>
                  <a:srgbClr val="FFFFFF"/>
                </a:solidFill>
              </a:rPr>
              <a:t>În Iași, aerul nu se vede. </a:t>
            </a:r>
            <a:pPr indent="0" marL="0">
              <a:buNone/>
            </a:pPr>
            <a:r>
              <a:rPr lang="en-US" sz="2500" b="1" dirty="0">
                <a:solidFill>
                  <a:srgbClr val="34C38F"/>
                </a:solidFill>
              </a:rPr>
              <a:t>Cu EcoPulse, îl vezi pe drumul tău.</a:t>
            </a:r>
            <a:endParaRPr lang="en-US" sz="2500" dirty="0"/>
          </a:p>
        </p:txBody>
      </p:sp>
      <p:sp>
        <p:nvSpPr>
          <p:cNvPr id="20" name="Text 15"/>
          <p:cNvSpPr txBox="1"/>
          <p:nvPr/>
        </p:nvSpPr>
        <p:spPr>
          <a:xfrm>
            <a:off x="9144000" y="5120640"/>
            <a:ext cx="2496312" cy="82296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400" dirty="0">
                <a:solidFill>
                  <a:srgbClr val="EF6B55"/>
                </a:solidFill>
                <a:latin typeface="Consolas" pitchFamily="34" charset="0"/>
                <a:ea typeface="Consolas" pitchFamily="34" charset="-122"/>
                <a:cs typeface="Consolas" pitchFamily="34" charset="-120"/>
              </a:rPr>
              <a:t>[CONTACT / QR]</a:t>
            </a:r>
            <a:endParaRPr lang="en-US" sz="1400" dirty="0"/>
          </a:p>
        </p:txBody>
      </p:sp>
      <p:sp>
        <p:nvSpPr>
          <p:cNvPr id="21" name="Text 1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8EA4B2"/>
                </a:solidFill>
              </a:rPr>
              <a:t>9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ANEXA A · «CE NU MERGE?»</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Ce nu merge încă</a:t>
            </a:r>
            <a:endParaRPr lang="en-US" sz="3400" dirty="0"/>
          </a:p>
        </p:txBody>
      </p:sp>
      <p:sp>
        <p:nvSpPr>
          <p:cNvPr id="4" name="Shape 2"/>
          <p:cNvSpPr/>
          <p:nvPr/>
        </p:nvSpPr>
        <p:spPr>
          <a:xfrm>
            <a:off x="548640" y="1737360"/>
            <a:ext cx="11091672" cy="1371600"/>
          </a:xfrm>
          <a:prstGeom prst="roundRect">
            <a:avLst>
              <a:gd name="adj" fmla="val 8000"/>
            </a:avLst>
          </a:prstGeom>
          <a:solidFill>
            <a:srgbClr val="1E3240"/>
          </a:solidFill>
          <a:ln/>
        </p:spPr>
      </p:sp>
      <p:sp>
        <p:nvSpPr>
          <p:cNvPr id="5" name="Shape 3"/>
          <p:cNvSpPr/>
          <p:nvPr/>
        </p:nvSpPr>
        <p:spPr>
          <a:xfrm>
            <a:off x="777240" y="1965960"/>
            <a:ext cx="502920" cy="502920"/>
          </a:xfrm>
          <a:prstGeom prst="ellipse">
            <a:avLst/>
          </a:prstGeom>
          <a:solidFill>
            <a:srgbClr val="25404F"/>
          </a:solidFill>
          <a:ln/>
        </p:spPr>
      </p:sp>
      <p:pic>
        <p:nvPicPr>
          <p:cNvPr id="6" name="Image 0" descr="preencoded.png">    </p:cNvPr>
          <p:cNvPicPr>
            <a:picLocks noChangeAspect="1"/>
          </p:cNvPicPr>
          <p:nvPr/>
        </p:nvPicPr>
        <p:blipFill>
          <a:blip r:embed="rId1"/>
          <a:stretch>
            <a:fillRect/>
          </a:stretch>
        </p:blipFill>
        <p:spPr>
          <a:xfrm>
            <a:off x="887882" y="2076602"/>
            <a:ext cx="281635" cy="281635"/>
          </a:xfrm>
          <a:prstGeom prst="rect">
            <a:avLst/>
          </a:prstGeom>
        </p:spPr>
      </p:pic>
      <p:sp>
        <p:nvSpPr>
          <p:cNvPr id="7" name="Text 4"/>
          <p:cNvSpPr txBox="1"/>
          <p:nvPr/>
        </p:nvSpPr>
        <p:spPr>
          <a:xfrm>
            <a:off x="1508760" y="1901952"/>
            <a:ext cx="6035040" cy="347472"/>
          </a:xfrm>
          <a:prstGeom prst="rect">
            <a:avLst/>
          </a:prstGeom>
          <a:noFill/>
          <a:ln/>
        </p:spPr>
        <p:txBody>
          <a:bodyPr wrap="square" lIns="0" tIns="0" rIns="0" bIns="0" rtlCol="0" anchor="ctr"/>
          <a:lstStyle/>
          <a:p>
            <a:pPr indent="0" marL="0">
              <a:buNone/>
            </a:pPr>
            <a:r>
              <a:rPr lang="en-US" sz="1700" b="1" dirty="0">
                <a:solidFill>
                  <a:srgbClr val="FFFFFF"/>
                </a:solidFill>
              </a:rPr>
              <a:t>Traficul e o estimare</a:t>
            </a:r>
            <a:endParaRPr lang="en-US" sz="1700" dirty="0"/>
          </a:p>
        </p:txBody>
      </p:sp>
      <p:sp>
        <p:nvSpPr>
          <p:cNvPr id="8" name="Text 5"/>
          <p:cNvSpPr txBox="1"/>
          <p:nvPr/>
        </p:nvSpPr>
        <p:spPr>
          <a:xfrm>
            <a:off x="1508760" y="2267712"/>
            <a:ext cx="6035040" cy="731520"/>
          </a:xfrm>
          <a:prstGeom prst="rect">
            <a:avLst/>
          </a:prstGeom>
          <a:noFill/>
          <a:ln/>
        </p:spPr>
        <p:txBody>
          <a:bodyPr wrap="square" lIns="0" tIns="0" rIns="0" bIns="0" rtlCol="0" anchor="t"/>
          <a:lstStyle/>
          <a:p>
            <a:pPr indent="0" marL="0">
              <a:buNone/>
            </a:pPr>
            <a:r>
              <a:rPr lang="en-US" sz="1300" dirty="0">
                <a:solidFill>
                  <a:srgbClr val="D5E1E8"/>
                </a:solidFill>
              </a:rPr>
              <a:t>Drumurile principale OSM × profilul orar al Iașului, corectat de raportările utilizatorilor. Datele TomTom reale apar doar cu cheie API.</a:t>
            </a:r>
            <a:endParaRPr lang="en-US" sz="1300" dirty="0"/>
          </a:p>
        </p:txBody>
      </p:sp>
      <p:sp>
        <p:nvSpPr>
          <p:cNvPr id="9" name="Text 6"/>
          <p:cNvSpPr txBox="1"/>
          <p:nvPr/>
        </p:nvSpPr>
        <p:spPr>
          <a:xfrm>
            <a:off x="7863840" y="1938528"/>
            <a:ext cx="32004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CUM TESTĂM</a:t>
            </a:r>
            <a:endParaRPr lang="en-US" sz="1100" dirty="0"/>
          </a:p>
        </p:txBody>
      </p:sp>
      <p:sp>
        <p:nvSpPr>
          <p:cNvPr id="10" name="Text 7"/>
          <p:cNvSpPr txBox="1"/>
          <p:nvPr/>
        </p:nvSpPr>
        <p:spPr>
          <a:xfrm>
            <a:off x="7863840" y="2240280"/>
            <a:ext cx="3566160" cy="777240"/>
          </a:xfrm>
          <a:prstGeom prst="rect">
            <a:avLst/>
          </a:prstGeom>
          <a:noFill/>
          <a:ln/>
        </p:spPr>
        <p:txBody>
          <a:bodyPr wrap="square" lIns="0" tIns="0" rIns="0" bIns="0" rtlCol="0" anchor="t"/>
          <a:lstStyle/>
          <a:p>
            <a:pPr indent="0" marL="0">
              <a:buNone/>
            </a:pPr>
            <a:r>
              <a:rPr lang="en-US" sz="1300" dirty="0">
                <a:solidFill>
                  <a:srgbClr val="FFFFFF"/>
                </a:solidFill>
              </a:rPr>
              <a:t>Comparăm estimarea cu TomTom pe 2 săptămâni, pe aceleași străzi.</a:t>
            </a:r>
            <a:endParaRPr lang="en-US" sz="1300" dirty="0"/>
          </a:p>
        </p:txBody>
      </p:sp>
      <p:sp>
        <p:nvSpPr>
          <p:cNvPr id="11" name="Shape 8"/>
          <p:cNvSpPr/>
          <p:nvPr/>
        </p:nvSpPr>
        <p:spPr>
          <a:xfrm>
            <a:off x="548640" y="3246120"/>
            <a:ext cx="11091672" cy="1371600"/>
          </a:xfrm>
          <a:prstGeom prst="roundRect">
            <a:avLst>
              <a:gd name="adj" fmla="val 8000"/>
            </a:avLst>
          </a:prstGeom>
          <a:solidFill>
            <a:srgbClr val="1E3240"/>
          </a:solidFill>
          <a:ln/>
        </p:spPr>
      </p:sp>
      <p:sp>
        <p:nvSpPr>
          <p:cNvPr id="12" name="Shape 9"/>
          <p:cNvSpPr/>
          <p:nvPr/>
        </p:nvSpPr>
        <p:spPr>
          <a:xfrm>
            <a:off x="777240" y="3474720"/>
            <a:ext cx="502920" cy="502920"/>
          </a:xfrm>
          <a:prstGeom prst="ellipse">
            <a:avLst/>
          </a:prstGeom>
          <a:solidFill>
            <a:srgbClr val="25404F"/>
          </a:solidFill>
          <a:ln/>
        </p:spPr>
      </p:sp>
      <p:pic>
        <p:nvPicPr>
          <p:cNvPr id="13" name="Image 1" descr="preencoded.png">    </p:cNvPr>
          <p:cNvPicPr>
            <a:picLocks noChangeAspect="1"/>
          </p:cNvPicPr>
          <p:nvPr/>
        </p:nvPicPr>
        <p:blipFill>
          <a:blip r:embed="rId2"/>
          <a:stretch>
            <a:fillRect/>
          </a:stretch>
        </p:blipFill>
        <p:spPr>
          <a:xfrm>
            <a:off x="887882" y="3585362"/>
            <a:ext cx="281635" cy="281635"/>
          </a:xfrm>
          <a:prstGeom prst="rect">
            <a:avLst/>
          </a:prstGeom>
        </p:spPr>
      </p:pic>
      <p:sp>
        <p:nvSpPr>
          <p:cNvPr id="14" name="Text 10"/>
          <p:cNvSpPr txBox="1"/>
          <p:nvPr/>
        </p:nvSpPr>
        <p:spPr>
          <a:xfrm>
            <a:off x="1508760" y="3410712"/>
            <a:ext cx="6035040" cy="347472"/>
          </a:xfrm>
          <a:prstGeom prst="rect">
            <a:avLst/>
          </a:prstGeom>
          <a:noFill/>
          <a:ln/>
        </p:spPr>
        <p:txBody>
          <a:bodyPr wrap="square" lIns="0" tIns="0" rIns="0" bIns="0" rtlCol="0" anchor="ctr"/>
          <a:lstStyle/>
          <a:p>
            <a:pPr indent="0" marL="0">
              <a:buNone/>
            </a:pPr>
            <a:r>
              <a:rPr lang="en-US" sz="1700" b="1" dirty="0">
                <a:solidFill>
                  <a:srgbClr val="FFFFFF"/>
                </a:solidFill>
              </a:rPr>
              <a:t>Rutarea nu folosește ora plecării</a:t>
            </a:r>
            <a:endParaRPr lang="en-US" sz="1700" dirty="0"/>
          </a:p>
        </p:txBody>
      </p:sp>
      <p:sp>
        <p:nvSpPr>
          <p:cNvPr id="15" name="Text 11"/>
          <p:cNvSpPr txBox="1"/>
          <p:nvPr/>
        </p:nvSpPr>
        <p:spPr>
          <a:xfrm>
            <a:off x="1508760" y="3776472"/>
            <a:ext cx="6035040" cy="731520"/>
          </a:xfrm>
          <a:prstGeom prst="rect">
            <a:avLst/>
          </a:prstGeom>
          <a:noFill/>
          <a:ln/>
        </p:spPr>
        <p:txBody>
          <a:bodyPr wrap="square" lIns="0" tIns="0" rIns="0" bIns="0" rtlCol="0" anchor="t"/>
          <a:lstStyle/>
          <a:p>
            <a:pPr indent="0" marL="0">
              <a:buNone/>
            </a:pPr>
            <a:r>
              <a:rPr lang="en-US" sz="1300" dirty="0">
                <a:solidFill>
                  <a:srgbClr val="D5E1E8"/>
                </a:solidFill>
              </a:rPr>
              <a:t>Fără un server Valhalla, rutele vin de la OSRM public și sunt evaluate local. Ocolirea incidentelor la ora plecării cere Valhalla.</a:t>
            </a:r>
            <a:endParaRPr lang="en-US" sz="1300" dirty="0"/>
          </a:p>
        </p:txBody>
      </p:sp>
      <p:sp>
        <p:nvSpPr>
          <p:cNvPr id="16" name="Text 12"/>
          <p:cNvSpPr txBox="1"/>
          <p:nvPr/>
        </p:nvSpPr>
        <p:spPr>
          <a:xfrm>
            <a:off x="7863840" y="3447288"/>
            <a:ext cx="32004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CUM TESTĂM</a:t>
            </a:r>
            <a:endParaRPr lang="en-US" sz="1100" dirty="0"/>
          </a:p>
        </p:txBody>
      </p:sp>
      <p:sp>
        <p:nvSpPr>
          <p:cNvPr id="17" name="Text 13"/>
          <p:cNvSpPr txBox="1"/>
          <p:nvPr/>
        </p:nvSpPr>
        <p:spPr>
          <a:xfrm>
            <a:off x="7863840" y="3749040"/>
            <a:ext cx="3566160" cy="777240"/>
          </a:xfrm>
          <a:prstGeom prst="rect">
            <a:avLst/>
          </a:prstGeom>
          <a:noFill/>
          <a:ln/>
        </p:spPr>
        <p:txBody>
          <a:bodyPr wrap="square" lIns="0" tIns="0" rIns="0" bIns="0" rtlCol="0" anchor="t"/>
          <a:lstStyle/>
          <a:p>
            <a:pPr indent="0" marL="0">
              <a:buNone/>
            </a:pPr>
            <a:r>
              <a:rPr lang="en-US" sz="1300" dirty="0">
                <a:solidFill>
                  <a:srgbClr val="FFFFFF"/>
                </a:solidFill>
              </a:rPr>
              <a:t>Rulăm Valhalla local și comparăm rutele cu cele OSRM.</a:t>
            </a:r>
            <a:endParaRPr lang="en-US" sz="1300" dirty="0"/>
          </a:p>
        </p:txBody>
      </p:sp>
      <p:sp>
        <p:nvSpPr>
          <p:cNvPr id="18" name="Shape 14"/>
          <p:cNvSpPr/>
          <p:nvPr/>
        </p:nvSpPr>
        <p:spPr>
          <a:xfrm>
            <a:off x="548640" y="4754880"/>
            <a:ext cx="11091672" cy="1371600"/>
          </a:xfrm>
          <a:prstGeom prst="roundRect">
            <a:avLst>
              <a:gd name="adj" fmla="val 8000"/>
            </a:avLst>
          </a:prstGeom>
          <a:solidFill>
            <a:srgbClr val="1E3240"/>
          </a:solidFill>
          <a:ln/>
        </p:spPr>
      </p:sp>
      <p:sp>
        <p:nvSpPr>
          <p:cNvPr id="19" name="Shape 15"/>
          <p:cNvSpPr/>
          <p:nvPr/>
        </p:nvSpPr>
        <p:spPr>
          <a:xfrm>
            <a:off x="777240" y="4983480"/>
            <a:ext cx="502920" cy="502920"/>
          </a:xfrm>
          <a:prstGeom prst="ellipse">
            <a:avLst/>
          </a:prstGeom>
          <a:solidFill>
            <a:srgbClr val="25404F"/>
          </a:solidFill>
          <a:ln/>
        </p:spPr>
      </p:sp>
      <p:pic>
        <p:nvPicPr>
          <p:cNvPr id="20" name="Image 2" descr="preencoded.png">    </p:cNvPr>
          <p:cNvPicPr>
            <a:picLocks noChangeAspect="1"/>
          </p:cNvPicPr>
          <p:nvPr/>
        </p:nvPicPr>
        <p:blipFill>
          <a:blip r:embed="rId3"/>
          <a:stretch>
            <a:fillRect/>
          </a:stretch>
        </p:blipFill>
        <p:spPr>
          <a:xfrm>
            <a:off x="887882" y="5094122"/>
            <a:ext cx="281635" cy="281635"/>
          </a:xfrm>
          <a:prstGeom prst="rect">
            <a:avLst/>
          </a:prstGeom>
        </p:spPr>
      </p:pic>
      <p:sp>
        <p:nvSpPr>
          <p:cNvPr id="21" name="Text 16"/>
          <p:cNvSpPr txBox="1"/>
          <p:nvPr/>
        </p:nvSpPr>
        <p:spPr>
          <a:xfrm>
            <a:off x="1508760" y="4919472"/>
            <a:ext cx="6035040" cy="347472"/>
          </a:xfrm>
          <a:prstGeom prst="rect">
            <a:avLst/>
          </a:prstGeom>
          <a:noFill/>
          <a:ln/>
        </p:spPr>
        <p:txBody>
          <a:bodyPr wrap="square" lIns="0" tIns="0" rIns="0" bIns="0" rtlCol="0" anchor="ctr"/>
          <a:lstStyle/>
          <a:p>
            <a:pPr indent="0" marL="0">
              <a:buNone/>
            </a:pPr>
            <a:r>
              <a:rPr lang="en-US" sz="1700" b="1" dirty="0">
                <a:solidFill>
                  <a:srgbClr val="FFFFFF"/>
                </a:solidFill>
              </a:rPr>
              <a:t>Limită de autentificare la demo</a:t>
            </a:r>
            <a:endParaRPr lang="en-US" sz="1700" dirty="0"/>
          </a:p>
        </p:txBody>
      </p:sp>
      <p:sp>
        <p:nvSpPr>
          <p:cNvPr id="22" name="Text 17"/>
          <p:cNvSpPr txBox="1"/>
          <p:nvPr/>
        </p:nvSpPr>
        <p:spPr>
          <a:xfrm>
            <a:off x="1508760" y="5285232"/>
            <a:ext cx="6035040" cy="731520"/>
          </a:xfrm>
          <a:prstGeom prst="rect">
            <a:avLst/>
          </a:prstGeom>
          <a:noFill/>
          <a:ln/>
        </p:spPr>
        <p:txBody>
          <a:bodyPr wrap="square" lIns="0" tIns="0" rIns="0" bIns="0" rtlCol="0" anchor="t"/>
          <a:lstStyle/>
          <a:p>
            <a:pPr indent="0" marL="0">
              <a:buNone/>
            </a:pPr>
            <a:r>
              <a:rPr lang="en-US" sz="1300" dirty="0">
                <a:solidFill>
                  <a:srgbClr val="D5E1E8"/>
                </a:solidFill>
              </a:rPr>
              <a:t>10 autentificări pe minut per IP: multe telefoane pe același Wi-Fi pot fi blocate temporar.</a:t>
            </a:r>
            <a:endParaRPr lang="en-US" sz="1300" dirty="0"/>
          </a:p>
        </p:txBody>
      </p:sp>
      <p:sp>
        <p:nvSpPr>
          <p:cNvPr id="23" name="Text 18"/>
          <p:cNvSpPr txBox="1"/>
          <p:nvPr/>
        </p:nvSpPr>
        <p:spPr>
          <a:xfrm>
            <a:off x="7863840" y="4956048"/>
            <a:ext cx="32004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CUM TESTĂM</a:t>
            </a:r>
            <a:endParaRPr lang="en-US" sz="1100" dirty="0"/>
          </a:p>
        </p:txBody>
      </p:sp>
      <p:sp>
        <p:nvSpPr>
          <p:cNvPr id="24" name="Text 19"/>
          <p:cNvSpPr txBox="1"/>
          <p:nvPr/>
        </p:nvSpPr>
        <p:spPr>
          <a:xfrm>
            <a:off x="7863840" y="5257800"/>
            <a:ext cx="3566160" cy="777240"/>
          </a:xfrm>
          <a:prstGeom prst="rect">
            <a:avLst/>
          </a:prstGeom>
          <a:noFill/>
          <a:ln/>
        </p:spPr>
        <p:txBody>
          <a:bodyPr wrap="square" lIns="0" tIns="0" rIns="0" bIns="0" rtlCol="0" anchor="t"/>
          <a:lstStyle/>
          <a:p>
            <a:pPr indent="0" marL="0">
              <a:buNone/>
            </a:pPr>
            <a:r>
              <a:rPr lang="en-US" sz="1300" dirty="0">
                <a:solidFill>
                  <a:srgbClr val="FFFFFF"/>
                </a:solidFill>
              </a:rPr>
              <a:t>Test de încărcare cu 30 de clienți de pe aceeași rețea.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ANEXA B · «DE CE AȚI FĂCUT AȘA?»</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Detalii tehnice</a:t>
            </a:r>
            <a:endParaRPr lang="en-US" sz="3400" dirty="0"/>
          </a:p>
        </p:txBody>
      </p:sp>
      <p:sp>
        <p:nvSpPr>
          <p:cNvPr id="4" name="Shape 2"/>
          <p:cNvSpPr/>
          <p:nvPr/>
        </p:nvSpPr>
        <p:spPr>
          <a:xfrm>
            <a:off x="548640" y="1737360"/>
            <a:ext cx="5760720" cy="3886200"/>
          </a:xfrm>
          <a:prstGeom prst="roundRect">
            <a:avLst>
              <a:gd name="adj" fmla="val 2824"/>
            </a:avLst>
          </a:prstGeom>
          <a:solidFill>
            <a:srgbClr val="1E3240"/>
          </a:solidFill>
          <a:ln/>
        </p:spPr>
      </p:sp>
      <p:sp>
        <p:nvSpPr>
          <p:cNvPr id="5" name="Text 3"/>
          <p:cNvSpPr txBox="1"/>
          <p:nvPr/>
        </p:nvSpPr>
        <p:spPr>
          <a:xfrm>
            <a:off x="777240" y="1920240"/>
            <a:ext cx="36576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ARHITECTURA</a:t>
            </a:r>
            <a:endParaRPr lang="en-US" sz="1100" dirty="0"/>
          </a:p>
        </p:txBody>
      </p:sp>
      <p:sp>
        <p:nvSpPr>
          <p:cNvPr id="6" name="Text 4"/>
          <p:cNvSpPr txBox="1"/>
          <p:nvPr/>
        </p:nvSpPr>
        <p:spPr>
          <a:xfrm>
            <a:off x="777240" y="2286000"/>
            <a:ext cx="5349240" cy="3703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rPr>
              <a:t>Worker de sincronizare: Sensor.Community, OpenAQ, Open-Meteo, CAMS (prognoză 72 h × 4 poluanți), OSM Overpass, lucrări oficiale Poliția Locală (verificate de admin)</a:t>
            </a:r>
            <a:endParaRPr lang="en-US" sz="1300" dirty="0"/>
          </a:p>
          <a:p>
            <a:pPr marL="342900" indent="-342900">
              <a:spcAft>
                <a:spcPts val="600"/>
              </a:spcAft>
              <a:buSzPct val="100000"/>
              <a:buChar char="•"/>
            </a:pPr>
            <a:r>
              <a:rPr lang="en-US" sz="1300" dirty="0">
                <a:solidFill>
                  <a:srgbClr val="FFFFFF"/>
                </a:solidFill>
              </a:rPr>
              <a:t>API FastAPI /api/v1: rapoarte, mediu, rute, călătorii, asistent, admin</a:t>
            </a:r>
            <a:endParaRPr lang="en-US" sz="1300" dirty="0"/>
          </a:p>
          <a:p>
            <a:pPr marL="342900" indent="-342900">
              <a:spcAft>
                <a:spcPts val="600"/>
              </a:spcAft>
              <a:buSzPct val="100000"/>
              <a:buChar char="•"/>
            </a:pPr>
            <a:r>
              <a:rPr lang="en-US" sz="1300" dirty="0">
                <a:solidFill>
                  <a:srgbClr val="FFFFFF"/>
                </a:solidFill>
              </a:rPr>
              <a:t>Bază de date SQLite (dezvoltare) / PostGIS (producție)</a:t>
            </a:r>
            <a:endParaRPr lang="en-US" sz="1300" dirty="0"/>
          </a:p>
          <a:p>
            <a:pPr marL="342900" indent="-342900">
              <a:spcAft>
                <a:spcPts val="600"/>
              </a:spcAft>
              <a:buSzPct val="100000"/>
              <a:buChar char="•"/>
            </a:pPr>
            <a:r>
              <a:rPr lang="en-US" sz="1300" dirty="0">
                <a:solidFill>
                  <a:srgbClr val="FFFFFF"/>
                </a:solidFill>
              </a:rPr>
              <a:t>Frontend React 19 + TypeScript + Vite; Leaflet sau Google Maps</a:t>
            </a:r>
            <a:endParaRPr lang="en-US" sz="1300" dirty="0"/>
          </a:p>
          <a:p>
            <a:pPr marL="342900" indent="-342900">
              <a:spcAft>
                <a:spcPts val="600"/>
              </a:spcAft>
              <a:buSzPct val="100000"/>
              <a:buChar char="•"/>
            </a:pPr>
            <a:r>
              <a:rPr lang="en-US" sz="1300" dirty="0">
                <a:solidFill>
                  <a:srgbClr val="FFFFFF"/>
                </a:solidFill>
              </a:rPr>
              <a:t>Raportare: text sau voce (ro-RO) → LLM (OpenAI / OpenRouter) → categorie, gravitate, rază 500 m; fără LLM, un clasificator determinist</a:t>
            </a:r>
            <a:endParaRPr lang="en-US" sz="1300" dirty="0"/>
          </a:p>
        </p:txBody>
      </p:sp>
      <p:sp>
        <p:nvSpPr>
          <p:cNvPr id="7" name="Shape 5"/>
          <p:cNvSpPr/>
          <p:nvPr/>
        </p:nvSpPr>
        <p:spPr>
          <a:xfrm>
            <a:off x="6556248" y="1737360"/>
            <a:ext cx="5084064" cy="3849624"/>
          </a:xfrm>
          <a:prstGeom prst="roundRect">
            <a:avLst>
              <a:gd name="adj" fmla="val 2375"/>
            </a:avLst>
          </a:prstGeom>
          <a:solidFill>
            <a:srgbClr val="25404F"/>
          </a:solidFill>
          <a:ln/>
          <a:effectLst>
            <a:outerShdw sx="100000" sy="100000" kx="0" ky="0" algn="bl" rotWithShape="0" blurRad="152400" dist="50800" dir="5400000">
              <a:srgbClr val="000000">
                <a:alpha val="35000"/>
              </a:srgbClr>
            </a:outerShdw>
          </a:effectLst>
        </p:spPr>
      </p:sp>
      <p:pic>
        <p:nvPicPr>
          <p:cNvPr id="8" name="Image 0" descr="Captură din aplicația EcoPulse">    </p:cNvPr>
          <p:cNvPicPr>
            <a:picLocks noChangeAspect="1"/>
          </p:cNvPicPr>
          <p:nvPr/>
        </p:nvPicPr>
        <p:blipFill>
          <a:blip r:embed="rId1"/>
          <a:stretch>
            <a:fillRect/>
          </a:stretch>
        </p:blipFill>
        <p:spPr>
          <a:xfrm>
            <a:off x="6629400" y="1810512"/>
            <a:ext cx="4937760" cy="3703320"/>
          </a:xfrm>
          <a:prstGeom prst="rect">
            <a:avLst/>
          </a:prstGeom>
        </p:spPr>
      </p:pic>
      <p:sp>
        <p:nvSpPr>
          <p:cNvPr id="9" name="Text 6"/>
          <p:cNvSpPr txBox="1"/>
          <p:nvPr/>
        </p:nvSpPr>
        <p:spPr>
          <a:xfrm>
            <a:off x="6629400" y="5715000"/>
            <a:ext cx="4937760" cy="411480"/>
          </a:xfrm>
          <a:prstGeom prst="rect">
            <a:avLst/>
          </a:prstGeom>
          <a:noFill/>
          <a:ln/>
        </p:spPr>
        <p:txBody>
          <a:bodyPr wrap="square" lIns="0" tIns="0" rIns="0" bIns="0" rtlCol="0" anchor="t"/>
          <a:lstStyle/>
          <a:p>
            <a:pPr indent="0" marL="0">
              <a:buNone/>
            </a:pPr>
            <a:r>
              <a:rPr lang="en-US" sz="1100" dirty="0">
                <a:solidFill>
                  <a:srgbClr val="8EA4B2"/>
                </a:solidFill>
              </a:rPr>
              <a:t>Tab-ul Raportează: întrebări despre aer și trafic sau raportări în limbaj natural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ANEXA C · «DE UNDE ȘTIȚI?»</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Dovezile complete</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554480"/>
                <a:gridCol w="5788152"/>
                <a:gridCol w="3749040"/>
              </a:tblGrid>
              <a:tr h="0">
                <a:tc>
                  <a:txBody>
                    <a:bodyPr/>
                    <a:lstStyle/>
                    <a:p>
                      <a:pPr indent="0" marL="0">
                        <a:buNone/>
                      </a:pPr>
                      <a:r>
                        <a:rPr lang="en-US" sz="1300" b="1" dirty="0">
                          <a:solidFill>
                            <a:srgbClr val="34C38F"/>
                          </a:solidFill>
                        </a:rPr>
                        <a:t>Urma</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b="1" dirty="0">
                          <a:solidFill>
                            <a:srgbClr val="34C38F"/>
                          </a:solidFill>
                        </a:rPr>
                        <a:t>Ce spune</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b="1" dirty="0">
                          <a:solidFill>
                            <a:srgbClr val="34C38F"/>
                          </a:solidFill>
                        </a:rPr>
                        <a:t>Sursă și an</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r>
              <a:tr h="0">
                <a:tc>
                  <a:txBody>
                    <a:bodyPr/>
                    <a:lstStyle/>
                    <a:p>
                      <a:pPr indent="0" marL="0">
                        <a:buNone/>
                      </a:pPr>
                      <a:r>
                        <a:rPr lang="en-US" sz="1300" dirty="0">
                          <a:solidFill>
                            <a:srgbClr val="FFFFFF"/>
                          </a:solidFill>
                        </a:rPr>
                        <a:t>PM10 Iași</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Noiembrie 2024: depășiri ale limitei zilnice PM10 la toate stațiile (5 la Podu de Piatră). Podu de Piatră a atins plafonul anual de 35 de depășiri în primele 11 luni.</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APM Iași, citată de BZI.ro, 19.12.2024 · bzi.ro/…-5141403</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r>
              <a:tr h="0">
                <a:tc>
                  <a:txBody>
                    <a:bodyPr/>
                    <a:lstStyle/>
                    <a:p>
                      <a:pPr indent="0" marL="0">
                        <a:buNone/>
                      </a:pPr>
                      <a:r>
                        <a:rPr lang="en-US" sz="1300" dirty="0">
                          <a:solidFill>
                            <a:srgbClr val="FFFFFF"/>
                          </a:solidFill>
                        </a:rPr>
                        <a:t>NO₂ Iași</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Scrisoare de punere în întârziere: valorile-limită NO₂ nerespectate în București, Brașov, Iași, Cluj-Napoca, Timișoara.</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Comisia Europeană, Reprezentanța în România, 14.05.2020</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r>
              <a:tr h="0">
                <a:tc>
                  <a:txBody>
                    <a:bodyPr/>
                    <a:lstStyle/>
                    <a:p>
                      <a:pPr indent="0" marL="0">
                        <a:buNone/>
                      </a:pPr>
                      <a:r>
                        <a:rPr lang="en-US" sz="1300" dirty="0">
                          <a:solidFill>
                            <a:srgbClr val="FFFFFF"/>
                          </a:solidFill>
                        </a:rPr>
                        <a:t>Trafic Iași</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Iași, între orașele cu cel mai congestionat trafic din România; peste 9 zile pierdute pe an.</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Institutul pentru Orașe Vizionare, Indexul de Trafic 2025 (CITY INDEX), via BZI.ro, 16.09.2025</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r>
              <a:tr h="0">
                <a:tc>
                  <a:txBody>
                    <a:bodyPr/>
                    <a:lstStyle/>
                    <a:p>
                      <a:pPr indent="0" marL="0">
                        <a:buNone/>
                      </a:pPr>
                      <a:r>
                        <a:rPr lang="en-US" sz="1300" dirty="0">
                          <a:solidFill>
                            <a:srgbClr val="FFFFFF"/>
                          </a:solidFill>
                        </a:rPr>
                        <a:t>Alternative</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Google Maps: traseu după timp și trafic. Waze: raportări din comunitate pentru șoferi.</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c>
                  <a:txBody>
                    <a:bodyPr/>
                    <a:lstStyle/>
                    <a:p>
                      <a:pPr indent="0" marL="0">
                        <a:buNone/>
                      </a:pPr>
                      <a:r>
                        <a:rPr lang="en-US" sz="1300" dirty="0">
                          <a:solidFill>
                            <a:srgbClr val="FFFFFF"/>
                          </a:solidFill>
                        </a:rPr>
                        <a:t>Observație proprie, 2026</a:t>
                      </a:r>
                      <a:endParaRPr lang="en-US" sz="1300" dirty="0"/>
                    </a:p>
                  </a:txBody>
                  <a:tcPr marL="101600" marR="101600" marT="76200" marB="76200" anchor="ctr">
                    <a:lnL w="25400" cap="flat" cmpd="sng" algn="ctr">
                      <a:solidFill>
                        <a:srgbClr val="14232D"/>
                      </a:solidFill>
                      <a:prstDash val="solid"/>
                      <a:round/>
                      <a:headEnd type="none" w="med" len="med"/>
                      <a:tailEnd type="none" w="med" len="med"/>
                    </a:lnL>
                    <a:lnR w="25400" cap="flat" cmpd="sng" algn="ctr">
                      <a:solidFill>
                        <a:srgbClr val="14232D"/>
                      </a:solidFill>
                      <a:prstDash val="solid"/>
                      <a:round/>
                      <a:headEnd type="none" w="med" len="med"/>
                      <a:tailEnd type="none" w="med" len="med"/>
                    </a:lnR>
                    <a:lnT w="25400" cap="flat" cmpd="sng" algn="ctr">
                      <a:solidFill>
                        <a:srgbClr val="14232D"/>
                      </a:solidFill>
                      <a:prstDash val="solid"/>
                      <a:round/>
                      <a:headEnd type="none" w="med" len="med"/>
                      <a:tailEnd type="none" w="med" len="med"/>
                    </a:lnT>
                    <a:lnB w="25400" cap="flat" cmpd="sng" algn="ctr">
                      <a:solidFill>
                        <a:srgbClr val="14232D"/>
                      </a:solidFill>
                      <a:prstDash val="solid"/>
                      <a:round/>
                      <a:headEnd type="none" w="med" len="med"/>
                      <a:tailEnd type="none" w="med" len="med"/>
                    </a:lnB>
                    <a:solidFill>
                      <a:srgbClr val="1E3240"/>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rgbClr val="34C38F"/>
                </a:solidFill>
              </a:rPr>
              <a:t>ANEXA D · «CUM AȚI AJUNS LA CIFRA ASTA?»</a:t>
            </a:r>
            <a:endParaRPr lang="en-US" sz="1200" dirty="0"/>
          </a:p>
        </p:txBody>
      </p:sp>
      <p:sp>
        <p:nvSpPr>
          <p:cNvPr id="3" name="Text 1"/>
          <p:cNvSpPr/>
          <p:nvPr>
            <p:ph idx="102" type="title" hasCustomPrompt="1"/>
          </p:nvPr>
        </p:nvSpPr>
        <p:spPr>
          <a:xfrm>
            <a:off x="548640" y="676656"/>
            <a:ext cx="11064240" cy="749808"/>
          </a:xfrm>
          <a:prstGeom prst="rect">
            <a:avLst/>
          </a:prstGeom>
          <a:noFill/>
          <a:ln/>
        </p:spPr>
        <p:txBody>
          <a:bodyPr wrap="square" lIns="0" tIns="0" rIns="0" bIns="0" rtlCol="0" anchor="t"/>
          <a:lstStyle/>
          <a:p>
            <a:pPr algn="l" indent="0" marL="0">
              <a:buNone/>
            </a:pPr>
            <a:r>
              <a:rPr lang="en-US" sz="3400" b="1" dirty="0">
                <a:solidFill>
                  <a:srgbClr val="FFFFFF"/>
                </a:solidFill>
              </a:rPr>
              <a:t>Piața și calculele (slide-ul 8, mutat în anexă la 3 minute)</a:t>
            </a:r>
            <a:endParaRPr lang="en-US" sz="3400" dirty="0"/>
          </a:p>
        </p:txBody>
      </p:sp>
      <p:sp>
        <p:nvSpPr>
          <p:cNvPr id="4" name="Text 2"/>
          <p:cNvSpPr txBox="1"/>
          <p:nvPr/>
        </p:nvSpPr>
        <p:spPr>
          <a:xfrm>
            <a:off x="548640" y="1737360"/>
            <a:ext cx="5486400" cy="256032"/>
          </a:xfrm>
          <a:prstGeom prst="rect">
            <a:avLst/>
          </a:prstGeom>
          <a:noFill/>
          <a:ln/>
        </p:spPr>
        <p:txBody>
          <a:bodyPr wrap="square" lIns="0" tIns="0" rIns="0" bIns="0" rtlCol="0" anchor="ctr"/>
          <a:lstStyle/>
          <a:p>
            <a:pPr indent="0" marL="0">
              <a:buNone/>
            </a:pPr>
            <a:r>
              <a:rPr lang="en-US" sz="1100" b="1" spc="200" kern="0" dirty="0">
                <a:solidFill>
                  <a:srgbClr val="8EA4B2"/>
                </a:solidFill>
              </a:rPr>
              <a:t>CALCULUL, DE JOS ÎN SUS</a:t>
            </a:r>
            <a:endParaRPr lang="en-US" sz="1100" dirty="0"/>
          </a:p>
        </p:txBody>
      </p:sp>
      <p:sp>
        <p:nvSpPr>
          <p:cNvPr id="5" name="Shape 3"/>
          <p:cNvSpPr/>
          <p:nvPr/>
        </p:nvSpPr>
        <p:spPr>
          <a:xfrm>
            <a:off x="548640" y="2103120"/>
            <a:ext cx="3502152" cy="1554480"/>
          </a:xfrm>
          <a:prstGeom prst="roundRect">
            <a:avLst>
              <a:gd name="adj" fmla="val 7059"/>
            </a:avLst>
          </a:prstGeom>
          <a:solidFill>
            <a:srgbClr val="1E3240"/>
          </a:solidFill>
          <a:ln/>
        </p:spPr>
      </p:sp>
      <p:sp>
        <p:nvSpPr>
          <p:cNvPr id="6" name="Text 4"/>
          <p:cNvSpPr txBox="1"/>
          <p:nvPr/>
        </p:nvSpPr>
        <p:spPr>
          <a:xfrm>
            <a:off x="777240" y="2331720"/>
            <a:ext cx="3044952" cy="54864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500" dirty="0">
                <a:solidFill>
                  <a:srgbClr val="EF6B55"/>
                </a:solidFill>
                <a:latin typeface="Consolas" pitchFamily="34" charset="0"/>
                <a:ea typeface="Consolas" pitchFamily="34" charset="-122"/>
                <a:cs typeface="Consolas" pitchFamily="34" charset="-120"/>
              </a:rPr>
              <a:t>[NR. MUNICIPII ȚINTĂ]</a:t>
            </a:r>
            <a:endParaRPr lang="en-US" sz="1500" dirty="0"/>
          </a:p>
        </p:txBody>
      </p:sp>
      <p:sp>
        <p:nvSpPr>
          <p:cNvPr id="7" name="Text 5"/>
          <p:cNvSpPr txBox="1"/>
          <p:nvPr/>
        </p:nvSpPr>
        <p:spPr>
          <a:xfrm>
            <a:off x="777240" y="3017520"/>
            <a:ext cx="3044952" cy="365760"/>
          </a:xfrm>
          <a:prstGeom prst="rect">
            <a:avLst/>
          </a:prstGeom>
          <a:noFill/>
          <a:ln/>
        </p:spPr>
        <p:txBody>
          <a:bodyPr wrap="square" lIns="0" tIns="0" rIns="0" bIns="0" rtlCol="0" anchor="ctr"/>
          <a:lstStyle/>
          <a:p>
            <a:pPr indent="0" marL="0">
              <a:buNone/>
            </a:pPr>
            <a:r>
              <a:rPr lang="en-US" sz="1300" dirty="0">
                <a:solidFill>
                  <a:srgbClr val="8EA4B2"/>
                </a:solidFill>
              </a:rPr>
              <a:t>sursă: [LINK], [AN]</a:t>
            </a:r>
            <a:endParaRPr lang="en-US" sz="1300" dirty="0"/>
          </a:p>
        </p:txBody>
      </p:sp>
      <p:sp>
        <p:nvSpPr>
          <p:cNvPr id="8" name="Text 6"/>
          <p:cNvSpPr txBox="1"/>
          <p:nvPr/>
        </p:nvSpPr>
        <p:spPr>
          <a:xfrm>
            <a:off x="4050792" y="2514600"/>
            <a:ext cx="274320" cy="548640"/>
          </a:xfrm>
          <a:prstGeom prst="rect">
            <a:avLst/>
          </a:prstGeom>
          <a:noFill/>
          <a:ln/>
        </p:spPr>
        <p:txBody>
          <a:bodyPr wrap="square" lIns="0" tIns="0" rIns="0" bIns="0" rtlCol="0" anchor="ctr"/>
          <a:lstStyle/>
          <a:p>
            <a:pPr algn="ctr" indent="0" marL="0">
              <a:buNone/>
            </a:pPr>
            <a:r>
              <a:rPr lang="en-US" sz="2600" b="1" dirty="0">
                <a:solidFill>
                  <a:srgbClr val="34C38F"/>
                </a:solidFill>
              </a:rPr>
              <a:t>×</a:t>
            </a:r>
            <a:endParaRPr lang="en-US" sz="2600" dirty="0"/>
          </a:p>
        </p:txBody>
      </p:sp>
      <p:sp>
        <p:nvSpPr>
          <p:cNvPr id="9" name="Shape 7"/>
          <p:cNvSpPr/>
          <p:nvPr/>
        </p:nvSpPr>
        <p:spPr>
          <a:xfrm>
            <a:off x="4325112" y="2103120"/>
            <a:ext cx="3502152" cy="1554480"/>
          </a:xfrm>
          <a:prstGeom prst="roundRect">
            <a:avLst>
              <a:gd name="adj" fmla="val 7059"/>
            </a:avLst>
          </a:prstGeom>
          <a:solidFill>
            <a:srgbClr val="1E3240"/>
          </a:solidFill>
          <a:ln/>
        </p:spPr>
      </p:sp>
      <p:sp>
        <p:nvSpPr>
          <p:cNvPr id="10" name="Text 8"/>
          <p:cNvSpPr txBox="1"/>
          <p:nvPr/>
        </p:nvSpPr>
        <p:spPr>
          <a:xfrm>
            <a:off x="4553712" y="2331720"/>
            <a:ext cx="3044952" cy="54864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500" dirty="0">
                <a:solidFill>
                  <a:srgbClr val="EF6B55"/>
                </a:solidFill>
                <a:latin typeface="Consolas" pitchFamily="34" charset="0"/>
                <a:ea typeface="Consolas" pitchFamily="34" charset="-122"/>
                <a:cs typeface="Consolas" pitchFamily="34" charset="-120"/>
              </a:rPr>
              <a:t>[PREȚ LICENȚĂ / AN]</a:t>
            </a:r>
            <a:endParaRPr lang="en-US" sz="1500" dirty="0"/>
          </a:p>
        </p:txBody>
      </p:sp>
      <p:sp>
        <p:nvSpPr>
          <p:cNvPr id="11" name="Text 9"/>
          <p:cNvSpPr txBox="1"/>
          <p:nvPr/>
        </p:nvSpPr>
        <p:spPr>
          <a:xfrm>
            <a:off x="4553712" y="3017520"/>
            <a:ext cx="3044952" cy="365760"/>
          </a:xfrm>
          <a:prstGeom prst="rect">
            <a:avLst/>
          </a:prstGeom>
          <a:noFill/>
          <a:ln/>
        </p:spPr>
        <p:txBody>
          <a:bodyPr wrap="square" lIns="0" tIns="0" rIns="0" bIns="0" rtlCol="0" anchor="ctr"/>
          <a:lstStyle/>
          <a:p>
            <a:pPr indent="0" marL="0">
              <a:buNone/>
            </a:pPr>
            <a:r>
              <a:rPr lang="en-US" sz="1300" dirty="0">
                <a:solidFill>
                  <a:srgbClr val="8EA4B2"/>
                </a:solidFill>
              </a:rPr>
              <a:t>ipoteză, de validat</a:t>
            </a:r>
            <a:endParaRPr lang="en-US" sz="1300" dirty="0"/>
          </a:p>
        </p:txBody>
      </p:sp>
      <p:sp>
        <p:nvSpPr>
          <p:cNvPr id="12" name="Text 10"/>
          <p:cNvSpPr txBox="1"/>
          <p:nvPr/>
        </p:nvSpPr>
        <p:spPr>
          <a:xfrm>
            <a:off x="7827264" y="2514600"/>
            <a:ext cx="274320" cy="548640"/>
          </a:xfrm>
          <a:prstGeom prst="rect">
            <a:avLst/>
          </a:prstGeom>
          <a:noFill/>
          <a:ln/>
        </p:spPr>
        <p:txBody>
          <a:bodyPr wrap="square" lIns="0" tIns="0" rIns="0" bIns="0" rtlCol="0" anchor="ctr"/>
          <a:lstStyle/>
          <a:p>
            <a:pPr algn="ctr" indent="0" marL="0">
              <a:buNone/>
            </a:pPr>
            <a:r>
              <a:rPr lang="en-US" sz="2600" b="1" dirty="0">
                <a:solidFill>
                  <a:srgbClr val="34C38F"/>
                </a:solidFill>
              </a:rPr>
              <a:t>=</a:t>
            </a:r>
            <a:endParaRPr lang="en-US" sz="2600" dirty="0"/>
          </a:p>
        </p:txBody>
      </p:sp>
      <p:sp>
        <p:nvSpPr>
          <p:cNvPr id="13" name="Shape 11"/>
          <p:cNvSpPr/>
          <p:nvPr/>
        </p:nvSpPr>
        <p:spPr>
          <a:xfrm>
            <a:off x="8101584" y="2103120"/>
            <a:ext cx="3502152" cy="1554480"/>
          </a:xfrm>
          <a:prstGeom prst="roundRect">
            <a:avLst>
              <a:gd name="adj" fmla="val 7059"/>
            </a:avLst>
          </a:prstGeom>
          <a:solidFill>
            <a:srgbClr val="1E3240"/>
          </a:solidFill>
          <a:ln/>
        </p:spPr>
      </p:sp>
      <p:sp>
        <p:nvSpPr>
          <p:cNvPr id="14" name="Text 12"/>
          <p:cNvSpPr txBox="1"/>
          <p:nvPr/>
        </p:nvSpPr>
        <p:spPr>
          <a:xfrm>
            <a:off x="8330184" y="2331720"/>
            <a:ext cx="3044952" cy="548640"/>
          </a:xfrm>
          <a:prstGeom prst="rect">
            <a:avLst/>
          </a:prstGeom>
          <a:solidFill>
            <a:srgbClr val="2A2F38"/>
          </a:solidFill>
          <a:ln w="12700">
            <a:solidFill>
              <a:srgbClr val="EF6B55"/>
            </a:solidFill>
            <a:prstDash val="dash"/>
          </a:ln>
        </p:spPr>
        <p:txBody>
          <a:bodyPr wrap="square" lIns="101600" tIns="101600" rIns="101600" bIns="101600" rtlCol="0" anchor="ctr"/>
          <a:lstStyle/>
          <a:p>
            <a:pPr indent="0" marL="0">
              <a:buNone/>
            </a:pPr>
            <a:r>
              <a:rPr lang="en-US" sz="1500" dirty="0">
                <a:solidFill>
                  <a:srgbClr val="EF6B55"/>
                </a:solidFill>
                <a:latin typeface="Consolas" pitchFamily="34" charset="0"/>
                <a:ea typeface="Consolas" pitchFamily="34" charset="-122"/>
                <a:cs typeface="Consolas" pitchFamily="34" charset="-120"/>
              </a:rPr>
              <a:t>[VENIT / AN]</a:t>
            </a:r>
            <a:endParaRPr lang="en-US" sz="1500" dirty="0"/>
          </a:p>
        </p:txBody>
      </p:sp>
      <p:sp>
        <p:nvSpPr>
          <p:cNvPr id="15" name="Text 13"/>
          <p:cNvSpPr txBox="1"/>
          <p:nvPr/>
        </p:nvSpPr>
        <p:spPr>
          <a:xfrm>
            <a:off x="8330184" y="3017520"/>
            <a:ext cx="3044952" cy="365760"/>
          </a:xfrm>
          <a:prstGeom prst="rect">
            <a:avLst/>
          </a:prstGeom>
          <a:noFill/>
          <a:ln/>
        </p:spPr>
        <p:txBody>
          <a:bodyPr wrap="square" lIns="0" tIns="0" rIns="0" bIns="0" rtlCol="0" anchor="ctr"/>
          <a:lstStyle/>
          <a:p>
            <a:pPr indent="0" marL="0">
              <a:buNone/>
            </a:pPr>
            <a:r>
              <a:rPr lang="en-US" sz="1300" dirty="0">
                <a:solidFill>
                  <a:srgbClr val="8EA4B2"/>
                </a:solidFill>
              </a:rPr>
              <a:t>= municipii × preț</a:t>
            </a:r>
            <a:endParaRPr lang="en-US" sz="1300" dirty="0"/>
          </a:p>
        </p:txBody>
      </p:sp>
      <p:sp>
        <p:nvSpPr>
          <p:cNvPr id="16" name="Shape 14"/>
          <p:cNvSpPr/>
          <p:nvPr/>
        </p:nvSpPr>
        <p:spPr>
          <a:xfrm>
            <a:off x="548640" y="3977640"/>
            <a:ext cx="11091672" cy="2148840"/>
          </a:xfrm>
          <a:prstGeom prst="roundRect">
            <a:avLst>
              <a:gd name="adj" fmla="val 5106"/>
            </a:avLst>
          </a:prstGeom>
          <a:solidFill>
            <a:srgbClr val="1E3240"/>
          </a:solidFill>
          <a:ln/>
        </p:spPr>
      </p:sp>
      <p:sp>
        <p:nvSpPr>
          <p:cNvPr id="17" name="Text 15"/>
          <p:cNvSpPr txBox="1"/>
          <p:nvPr/>
        </p:nvSpPr>
        <p:spPr>
          <a:xfrm>
            <a:off x="777240" y="4160520"/>
            <a:ext cx="4572000" cy="256032"/>
          </a:xfrm>
          <a:prstGeom prst="rect">
            <a:avLst/>
          </a:prstGeom>
          <a:noFill/>
          <a:ln/>
        </p:spPr>
        <p:txBody>
          <a:bodyPr wrap="square" lIns="0" tIns="0" rIns="0" bIns="0" rtlCol="0" anchor="ctr"/>
          <a:lstStyle/>
          <a:p>
            <a:pPr indent="0" marL="0">
              <a:buNone/>
            </a:pPr>
            <a:r>
              <a:rPr lang="en-US" sz="1100" b="1" spc="200" kern="0" dirty="0">
                <a:solidFill>
                  <a:srgbClr val="34C38F"/>
                </a:solidFill>
              </a:rPr>
              <a:t>PRIMII CLIENȚI</a:t>
            </a:r>
            <a:endParaRPr lang="en-US" sz="1100" dirty="0"/>
          </a:p>
        </p:txBody>
      </p:sp>
      <p:sp>
        <p:nvSpPr>
          <p:cNvPr id="18" name="Text 16"/>
          <p:cNvSpPr txBox="1"/>
          <p:nvPr/>
        </p:nvSpPr>
        <p:spPr>
          <a:xfrm>
            <a:off x="777240" y="4526280"/>
            <a:ext cx="106070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Primul: Primăria Municipiului Iași (pilot).</a:t>
            </a:r>
            <a:endParaRPr lang="en-US" sz="1400" dirty="0"/>
          </a:p>
          <a:p>
            <a:pPr marL="342900" indent="-342900">
              <a:spcAft>
                <a:spcPts val="600"/>
              </a:spcAft>
              <a:buSzPct val="100000"/>
              <a:buChar char="•"/>
            </a:pPr>
            <a:r>
              <a:rPr lang="en-US" sz="1400" dirty="0">
                <a:solidFill>
                  <a:srgbClr val="FFFFFF"/>
                </a:solidFill>
              </a:rPr>
              <a:t>Apoi: celelalte orașe vizate de aceeași procedură UE pentru NO₂: București, Brașov, Cluj-Napoca, Timișoara (Comisia Europeană, 2020).</a:t>
            </a:r>
            <a:endParaRPr lang="en-US" sz="1400" dirty="0"/>
          </a:p>
          <a:p>
            <a:pPr marL="342900" indent="-342900">
              <a:spcAft>
                <a:spcPts val="600"/>
              </a:spcAft>
              <a:buSzPct val="100000"/>
              <a:buChar char="•"/>
            </a:pPr>
            <a:r>
              <a:rPr lang="en-US" sz="1400" dirty="0">
                <a:solidFill>
                  <a:srgbClr val="FFFFFF"/>
                </a:solidFill>
              </a:rPr>
              <a:t>Canalul: introducere prin juriu / mentori, apoi o demonstrație la direcția de mediu a primăriei.</a:t>
            </a:r>
            <a:endParaRPr lang="en-US" sz="1400" dirty="0"/>
          </a:p>
        </p:txBody>
      </p:sp>
    </p:spTree>
  </p:cSld>
  <p:clrMapOvr>
    <a:masterClrMapping/>
  </p:clrMapOvr>
</p:sld>
</file>

<file path=ppt/theme/theme1.xml><?xml version="1.0" encoding="utf-8"?>
<a:theme xmlns:a="http://schemas.openxmlformats.org/drawingml/2006/main" name="EcoPulse">
  <a:themeElements>
    <a:clrScheme name="EcoPulse">
      <a:dk1>
        <a:srgbClr val="0E1A22"/>
      </a:dk1>
      <a:lt1>
        <a:srgbClr val="FFFFFF"/>
      </a:lt1>
      <a:dk2>
        <a:srgbClr val="14232D"/>
      </a:dk2>
      <a:lt2>
        <a:srgbClr val="E6EEF2"/>
      </a:lt2>
      <a:accent1>
        <a:srgbClr val="34C38F"/>
      </a:accent1>
      <a:accent2>
        <a:srgbClr val="EF6B55"/>
      </a:accent2>
      <a:accent3>
        <a:srgbClr val="F2B84B"/>
      </a:accent3>
      <a:accent4>
        <a:srgbClr val="5AA9E6"/>
      </a:accent4>
      <a:accent5>
        <a:srgbClr val="8EA4B2"/>
      </a:accent5>
      <a:accent6>
        <a:srgbClr val="1E3240"/>
      </a:accent6>
      <a:hlink>
        <a:srgbClr val="34C38F"/>
      </a:hlink>
      <a:folHlink>
        <a:srgbClr val="7FD8B5"/>
      </a:folHlink>
    </a:clrScheme>
    <a:fontScheme name="Eco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EcoPulse — pitch</dc:title>
  <dc:subject>PptxGenJS Presentation</dc:subject>
  <dc:creator>Let'sDoIT</dc:creator>
  <cp:lastModifiedBy>Let'sDoIT</cp:lastModifiedBy>
  <cp:revision>1</cp:revision>
  <dcterms:created xsi:type="dcterms:W3CDTF">2026-10-18T09:04:19Z</dcterms:created>
  <dcterms:modified xsi:type="dcterms:W3CDTF">2026-10-18T09:04:19Z</dcterms:modified>
</cp:coreProperties>
</file>